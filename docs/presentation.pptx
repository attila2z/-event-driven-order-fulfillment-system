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Client wait time (ms)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Client wait time (ms)</c:v>
                </c:pt>
              </c:strCache>
            </c:strRef>
          </c:tx>
          <c:dPt>
            <c:idx val="0"/>
            <c:spPr>
              <a:solidFill>
                <a:srgbClr val="B41616"/>
              </a:solidFill>
            </c:spPr>
          </c:dPt>
          <c:dPt>
            <c:idx val="1"/>
            <c:spPr>
              <a:solidFill>
                <a:srgbClr val="127038"/>
              </a:solidFill>
            </c:spPr>
          </c:dPt>
          <c:cat>
            <c:strRef>
              <c:f>Sheet1!$A$2:$A$3</c:f>
              <c:strCache>
                <c:ptCount val="2"/>
                <c:pt idx="0">
                  <c:v>Synchronous (REST chain)</c:v>
                </c:pt>
                <c:pt idx="1">
                  <c:v>Asynchronous (event-driven)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720</c:v>
                </c:pt>
                <c:pt idx="1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[~20 sec] Good morning. My name is Marco and I will present my synopsis project: an Event-Driven Order Fulfillment System in .NET 10. I will walk through the architecture, four design patterns, and the testing strategy in about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 sec] Synchronously every service call blocks the next — the customer waits for the sum of all latencies, and if Shipping goes down the entire chain fails. Event-driven: the Order API publishes one event and returns HTTP 201 immediately. RabbitMQ routes a copy to every subscriber in parallel. Services are decoupled in time and space — one failure no longer cascades.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 sec] Seven microservices, one shared Contracts library, RabbitMQ as the broker, and PostgreSQL for state. The horizontal chain is the core saga: OrderService publishes OrderPlaced, StockConsumer reserves stock, PaymentConsumer charges the card, then OrderService publishes OrderConfirmed. That single event fans out via a RabbitMQ fanout exchange to four consumers in parallel — Invoice, Warehouse, Shipping, Notification — each with its own named queue. Failure path: if payment fails, compensating events undo earlier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 sec] The table shows the key trade-offs. Synchronous gives strong consistency and a simple call stack — but tight coupling and cascading failures. Async gives loose coupling and immediate responses — but eventual consistency and distributed debugging. The bar chart shows the difference: 720 ms versus 48 ms to the client. The rule: choose async when the caller does NOT need the result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[~80 sec] The Saga pattern replaces a distributed transaction with local commits. No 2-Phase Commit, no distributed locks. Each service commits locally and publishes the next event. Top row: the happy path. Bottom row: payment fails — StockConsumer hears PaymentFailed and publishes StockReleased, releasing the reserved inventory. OrderService publishes OrderCancelled. These are compensating transactions — they undo earlier work going forward, not backwards. We use choreography: no central controller; each service knows only its own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 sec] RabbitMQ guarantees at-least-once delivery — not exactly-once. Every consumer must therefore be idempotent. Our mechanism: before any business logic, we try to INSERT the MessageId into a ProcessedMessages table that has a unique constraint. If the row already exists, we get DbUpdateException, log a warning, and return without processing — the message is acknowledged so it is not requeued. First delivery processes; every retry is silently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[~55 sec] Transient failures — a network blip, a database timeout — are normal in distributed systems. Our mechanism: MassTransit retries up to three times with two seconds between attempts. If all three fail, the message moves to shipping-service_error — a dead-letter queue visible in the RabbitMQ UI on port 15672. An operator can inspect the message, fix the root cause, and requeue it. No message is ever silently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 sec] OrderService publishes OrderConfirmed to a RabbitMQ fanout exchange. RabbitMQ delivers a copy to every bound queue — one per consumer. All four run in parallel, completely independently. The key property: the publisher does not know who is listening. Adding a new consumer means creating a new service and binding its queue — zero changes to OrderService. Slow Invoice processing does not block Shipping.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[~65 sec] Four tools, four layers. xUnit runs the tests. Moq mocks ConsumeContext so we test consumer logic without a live broker — we verify that Publish was called exactly once with the correct payload. WireMock.Net starts a real HTTP server on a random port to test PaymentGatewayClient — we stub POST /charge to return 200 or 402 and assert the return value. Testcontainers starts a real PostgreSQL 16 container to verify the unique constraint — an InMemory database cannot enforce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 sec] One command — docker compose up --build — starts all nine containers. Multi-stage Dockerfiles keep images small: SDK image for build, runtime image for execution. Health checks on RabbitMQ and PostgreSQL prevent race conditions where a consumer starts before the broker is ready. Configuration is injected via environment variables, so the same images run locally and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 sec] To summarise: four patterns, seven services, ten tests, nine containers. Event-driven gives loose coupling, resilience, and independent scalability. The trade-offs are real: eventual consistency, distributed debugging, and mandatory idempotency. I am happy to discuss any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25312"/>
            <a:ext cx="12188952" cy="93268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61304"/>
            <a:ext cx="12188952" cy="6400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015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600" b="1" i="0">
                <a:solidFill>
                  <a:srgbClr val="102038"/>
                </a:solidFill>
                <a:latin typeface="Calibri"/>
              </a:rPr>
              <a:t>Event-Driven Order
Fulfillment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10360152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0088AA"/>
                </a:solidFill>
                <a:latin typeface="Calibri"/>
              </a:rPr>
              <a:t>System Integration  ·  Spring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968496"/>
            <a:ext cx="57881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" y="4133087"/>
            <a:ext cx="1719072" cy="402336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6A"/>
                </a:solidFill>
                <a:latin typeface="Calibri"/>
              </a:rPr>
              <a:t>.NET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4580" y="4133087"/>
            <a:ext cx="1719072" cy="402336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6A"/>
                </a:solidFill>
                <a:latin typeface="Calibri"/>
              </a:rPr>
              <a:t>MassTransit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4820" y="4133087"/>
            <a:ext cx="1719072" cy="402336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6A"/>
                </a:solidFill>
                <a:latin typeface="Calibri"/>
              </a:rPr>
              <a:t>RabbitMQ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60" y="4133087"/>
            <a:ext cx="1719072" cy="402336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6A"/>
                </a:solidFill>
                <a:latin typeface="Calibri"/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5300" y="4133087"/>
            <a:ext cx="1719072" cy="402336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6A"/>
                </a:solidFill>
                <a:latin typeface="Calibri"/>
              </a:rPr>
              <a:t>Docker Compose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35540" y="4133087"/>
            <a:ext cx="1719072" cy="402336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3A6A"/>
                </a:solidFill>
                <a:latin typeface="Calibri"/>
              </a:rPr>
              <a:t>xUnit / Moq / WireMock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16752"/>
            <a:ext cx="103601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4D2E0"/>
                </a:solidFill>
                <a:latin typeface="Calibri"/>
              </a:rPr>
              <a:t>Asyno  ·  PBSW  · 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Event-Driven?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Tight synchronous chains break under load — async events decouple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2437790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468112" cy="5522976"/>
          </a:xfrm>
          <a:prstGeom prst="rect">
            <a:avLst/>
          </a:prstGeom>
          <a:solidFill>
            <a:srgbClr val="FCEBEB"/>
          </a:solidFill>
          <a:ln w="1524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7043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41616"/>
                </a:solidFill>
                <a:latin typeface="Calibri"/>
              </a:rPr>
              <a:t>Synchronous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736592" cy="493776"/>
          </a:xfrm>
          <a:prstGeom prst="rect">
            <a:avLst/>
          </a:prstGeom>
          <a:solidFill>
            <a:srgbClr val="B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35224" y="2084832"/>
            <a:ext cx="0" cy="128016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2212848"/>
            <a:ext cx="4736592" cy="493776"/>
          </a:xfrm>
          <a:prstGeom prst="rect">
            <a:avLst/>
          </a:prstGeom>
          <a:solidFill>
            <a:srgbClr val="B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Stock Service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35224" y="2706624"/>
            <a:ext cx="0" cy="128016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66928" y="2834640"/>
            <a:ext cx="4736592" cy="493776"/>
          </a:xfrm>
          <a:prstGeom prst="rect">
            <a:avLst/>
          </a:prstGeom>
          <a:solidFill>
            <a:srgbClr val="B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Payment Service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35224" y="3328416"/>
            <a:ext cx="0" cy="128016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66928" y="3456432"/>
            <a:ext cx="4736592" cy="493776"/>
          </a:xfrm>
          <a:prstGeom prst="rect">
            <a:avLst/>
          </a:prstGeom>
          <a:solidFill>
            <a:srgbClr val="B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Warehouse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35224" y="3950208"/>
            <a:ext cx="0" cy="128016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6928" y="4078224"/>
            <a:ext cx="4736592" cy="493776"/>
          </a:xfrm>
          <a:prstGeom prst="rect">
            <a:avLst/>
          </a:prstGeom>
          <a:solidFill>
            <a:srgbClr val="B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Shipping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35224" y="4572000"/>
            <a:ext cx="0" cy="128016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6928" y="4700016"/>
            <a:ext cx="4736592" cy="493776"/>
          </a:xfrm>
          <a:prstGeom prst="rect">
            <a:avLst/>
          </a:prstGeom>
          <a:solidFill>
            <a:srgbClr val="B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5779008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1616"/>
                </a:solidFill>
                <a:latin typeface="Calibri"/>
              </a:rPr>
              <a:t>Response time = sum of ALL latencies
One failure cascades to every caller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71616" y="1115568"/>
            <a:ext cx="0" cy="5449824"/>
          </a:xfrm>
          <a:prstGeom prst="line">
            <a:avLst/>
          </a:prstGeom>
          <a:ln w="9525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81344" y="1097280"/>
            <a:ext cx="5742432" cy="5522976"/>
          </a:xfrm>
          <a:prstGeom prst="rect">
            <a:avLst/>
          </a:prstGeom>
          <a:solidFill>
            <a:srgbClr val="E6F7EB"/>
          </a:solidFill>
          <a:ln w="1524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170432"/>
            <a:ext cx="5303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27038"/>
                </a:solidFill>
                <a:latin typeface="Calibri"/>
              </a:rPr>
              <a:t>Event-Driven (async)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47104" y="1591056"/>
            <a:ext cx="5212080" cy="493776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Order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139696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127038"/>
                </a:solidFill>
                <a:latin typeface="Calibri"/>
              </a:rPr>
              <a:t>publishes  OrderPlaced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53144" y="2377440"/>
            <a:ext cx="0" cy="201168"/>
          </a:xfrm>
          <a:prstGeom prst="line">
            <a:avLst/>
          </a:prstGeom>
          <a:ln w="1651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47104" y="2606040"/>
            <a:ext cx="5212080" cy="493776"/>
          </a:xfrm>
          <a:prstGeom prst="rect">
            <a:avLst/>
          </a:prstGeom>
          <a:solidFill>
            <a:srgbClr val="66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RabbitMQ  (message broker)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154680"/>
            <a:ext cx="4754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127038"/>
                </a:solidFill>
                <a:latin typeface="Calibri"/>
              </a:rPr>
              <a:t>routes a copy to every subscriber: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53144" y="3392424"/>
            <a:ext cx="0" cy="210312"/>
          </a:xfrm>
          <a:prstGeom prst="line">
            <a:avLst/>
          </a:prstGeom>
          <a:ln w="1651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47104" y="3630168"/>
            <a:ext cx="5212080" cy="0"/>
          </a:xfrm>
          <a:prstGeom prst="line">
            <a:avLst/>
          </a:prstGeom>
          <a:ln w="22860">
            <a:solidFill>
              <a:srgbClr val="127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24420" y="3630168"/>
            <a:ext cx="0" cy="155447"/>
          </a:xfrm>
          <a:prstGeom prst="line">
            <a:avLst/>
          </a:prstGeom>
          <a:ln w="1524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547104" y="3813048"/>
            <a:ext cx="954633" cy="47548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Stock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88782" y="3630168"/>
            <a:ext cx="0" cy="155447"/>
          </a:xfrm>
          <a:prstGeom prst="line">
            <a:avLst/>
          </a:prstGeom>
          <a:ln w="1524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611465" y="3813048"/>
            <a:ext cx="954633" cy="47548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53144" y="3630168"/>
            <a:ext cx="0" cy="155447"/>
          </a:xfrm>
          <a:prstGeom prst="line">
            <a:avLst/>
          </a:prstGeom>
          <a:ln w="1524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675827" y="3813048"/>
            <a:ext cx="954633" cy="47548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Warehouse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217505" y="3630168"/>
            <a:ext cx="0" cy="155447"/>
          </a:xfrm>
          <a:prstGeom prst="line">
            <a:avLst/>
          </a:prstGeom>
          <a:ln w="1524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740188" y="3813048"/>
            <a:ext cx="954633" cy="47548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Shipping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81867" y="3630168"/>
            <a:ext cx="0" cy="155447"/>
          </a:xfrm>
          <a:prstGeom prst="line">
            <a:avLst/>
          </a:prstGeom>
          <a:ln w="1524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804550" y="3813048"/>
            <a:ext cx="954633" cy="47548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Notif.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462272"/>
            <a:ext cx="530352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27038"/>
                </a:solidFill>
                <a:latin typeface="Calibri"/>
              </a:rPr>
              <a:t>HTTP 201 immediately — processing is async
Services scale and fail completely independently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Choreography saga — each service publishes the next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3656685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3" y="1792224"/>
            <a:ext cx="2487168" cy="676656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 Service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6995" y="1792224"/>
            <a:ext cx="2487168" cy="67665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Stock Consumer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4788" y="1792224"/>
            <a:ext cx="2487168" cy="676656"/>
          </a:xfrm>
          <a:prstGeom prst="rect">
            <a:avLst/>
          </a:prstGeom>
          <a:solidFill>
            <a:srgbClr val="4E2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Payment Consumer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12580" y="1792224"/>
            <a:ext cx="2487168" cy="676656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 Service
(confirms)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6371" y="2130552"/>
            <a:ext cx="420624" cy="0"/>
          </a:xfrm>
          <a:prstGeom prst="line">
            <a:avLst/>
          </a:prstGeom>
          <a:ln w="2286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84164" y="2130552"/>
            <a:ext cx="420623" cy="0"/>
          </a:xfrm>
          <a:prstGeom prst="line">
            <a:avLst/>
          </a:prstGeom>
          <a:ln w="2286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91955" y="2130552"/>
            <a:ext cx="420625" cy="0"/>
          </a:xfrm>
          <a:prstGeom prst="line">
            <a:avLst/>
          </a:prstGeom>
          <a:ln w="2286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82011" y="1499616"/>
            <a:ext cx="1609344" cy="256032"/>
          </a:xfrm>
          <a:prstGeom prst="rect">
            <a:avLst/>
          </a:prstGeom>
          <a:solidFill>
            <a:srgbClr val="E2ECF8"/>
          </a:solidFill>
          <a:ln w="1016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3A6A"/>
                </a:solidFill>
                <a:latin typeface="Calibri"/>
              </a:rPr>
              <a:t>OrderPlaced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89803" y="1499616"/>
            <a:ext cx="1609344" cy="256032"/>
          </a:xfrm>
          <a:prstGeom prst="rect">
            <a:avLst/>
          </a:prstGeom>
          <a:solidFill>
            <a:srgbClr val="E2ECF8"/>
          </a:solidFill>
          <a:ln w="1016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3A6A"/>
                </a:solidFill>
                <a:latin typeface="Calibri"/>
              </a:rPr>
              <a:t>StockReserved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7595" y="1499616"/>
            <a:ext cx="1609344" cy="256032"/>
          </a:xfrm>
          <a:prstGeom prst="rect">
            <a:avLst/>
          </a:prstGeom>
          <a:solidFill>
            <a:srgbClr val="E2ECF8"/>
          </a:solidFill>
          <a:ln w="1016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3A6A"/>
                </a:solidFill>
                <a:latin typeface="Calibri"/>
              </a:rPr>
              <a:t>PaymentSucceeded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56163" y="2468880"/>
            <a:ext cx="0" cy="749808"/>
          </a:xfrm>
          <a:prstGeom prst="line">
            <a:avLst/>
          </a:prstGeom>
          <a:ln w="2286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477755" y="3255264"/>
            <a:ext cx="1956816" cy="274320"/>
          </a:xfrm>
          <a:prstGeom prst="rect">
            <a:avLst/>
          </a:prstGeom>
          <a:solidFill>
            <a:srgbClr val="E6F7EB"/>
          </a:solidFill>
          <a:ln w="1270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27038"/>
                </a:solidFill>
                <a:latin typeface="Calibri"/>
              </a:rPr>
              <a:t>OrderConfirmed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1428" y="3566160"/>
            <a:ext cx="7626096" cy="0"/>
          </a:xfrm>
          <a:prstGeom prst="line">
            <a:avLst/>
          </a:prstGeom>
          <a:ln w="25400">
            <a:solidFill>
              <a:srgbClr val="127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56163" y="3547872"/>
            <a:ext cx="0" cy="18288"/>
          </a:xfrm>
          <a:prstGeom prst="line">
            <a:avLst/>
          </a:prstGeom>
          <a:ln w="25400">
            <a:solidFill>
              <a:srgbClr val="127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1428" y="3566160"/>
            <a:ext cx="0" cy="201168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01852" y="3785615"/>
            <a:ext cx="2359152" cy="65836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Invoice
Consumer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3460" y="3566160"/>
            <a:ext cx="0" cy="201168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43884" y="3785615"/>
            <a:ext cx="2359152" cy="65836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Warehouse
Consumer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65492" y="3566160"/>
            <a:ext cx="0" cy="201168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85916" y="3785615"/>
            <a:ext cx="2359152" cy="65836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Shipping
Consumer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7524" y="3566160"/>
            <a:ext cx="0" cy="201168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727948" y="3785615"/>
            <a:ext cx="2359152" cy="65836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Notification
Consumer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45152"/>
            <a:ext cx="11649456" cy="402336"/>
          </a:xfrm>
          <a:prstGeom prst="rect">
            <a:avLst/>
          </a:prstGeom>
          <a:solidFill>
            <a:srgbClr val="FCEBEB"/>
          </a:solidFill>
          <a:ln w="1143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90872"/>
            <a:ext cx="112836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1616"/>
                </a:solidFill>
                <a:latin typeface="Calibri"/>
              </a:rPr>
              <a:t>Failure path:  PaymentFailed -&gt; StockConsumer publishes StockReleased  +  OrderService publishes OrderCancelled  (compensating transactions)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175504"/>
            <a:ext cx="1164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1">
                <a:solidFill>
                  <a:srgbClr val="58687C"/>
                </a:solidFill>
                <a:latin typeface="Calibri"/>
              </a:rPr>
              <a:t>All events are C# records in the shared Contracts project  — compile-time type safety across all 7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5541264"/>
            <a:ext cx="1435608" cy="347472"/>
          </a:xfrm>
          <a:prstGeom prst="rect">
            <a:avLst/>
          </a:prstGeom>
          <a:solidFill>
            <a:srgbClr val="66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RabbitMQ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5541264"/>
            <a:ext cx="1751076" cy="347472"/>
          </a:xfrm>
          <a:prstGeom prst="rect">
            <a:avLst/>
          </a:prstGeom>
          <a:solidFill>
            <a:srgbClr val="66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99916" y="5541264"/>
            <a:ext cx="1961388" cy="347472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MassTransit 8.3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Synchronous vs. Asynchronous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Choosing the right channel is the first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4875580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920240" cy="384048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1136" y="1097280"/>
            <a:ext cx="2103120" cy="384048"/>
          </a:xfrm>
          <a:prstGeom prst="rect">
            <a:avLst/>
          </a:prstGeom>
          <a:solidFill>
            <a:srgbClr val="4E2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Synchronous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097280"/>
            <a:ext cx="2103120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Async / Event-Driven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1920240" cy="438912"/>
          </a:xfrm>
          <a:prstGeom prst="rect">
            <a:avLst/>
          </a:prstGeom>
          <a:solidFill>
            <a:srgbClr val="E2ECF8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2038"/>
                </a:solidFill>
                <a:latin typeface="Calibri"/>
              </a:rPr>
              <a:t>Coupling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1136" y="157276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B41616"/>
                </a:solidFill>
                <a:latin typeface="Calibri"/>
              </a:rPr>
              <a:t>Tight — direct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572768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27038"/>
                </a:solidFill>
                <a:latin typeface="Calibri"/>
              </a:rPr>
              <a:t>Loose — via broker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48256"/>
            <a:ext cx="1920240" cy="438912"/>
          </a:xfrm>
          <a:prstGeom prst="rect">
            <a:avLst/>
          </a:prstGeom>
          <a:solidFill>
            <a:srgbClr val="E2ECF8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2038"/>
                </a:solidFill>
                <a:latin typeface="Calibri"/>
              </a:rPr>
              <a:t>Response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31136" y="2048256"/>
            <a:ext cx="2103120" cy="438912"/>
          </a:xfrm>
          <a:prstGeom prst="rect">
            <a:avLst/>
          </a:prstGeom>
          <a:solidFill>
            <a:srgbClr val="F8F9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B41616"/>
                </a:solidFill>
                <a:latin typeface="Calibri"/>
              </a:rPr>
              <a:t>Sum of all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048256"/>
            <a:ext cx="2103120" cy="438912"/>
          </a:xfrm>
          <a:prstGeom prst="rect">
            <a:avLst/>
          </a:prstGeom>
          <a:solidFill>
            <a:srgbClr val="F8F9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27038"/>
                </a:solidFill>
                <a:latin typeface="Calibri"/>
              </a:rPr>
              <a:t>Immediate 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23744"/>
            <a:ext cx="1920240" cy="438912"/>
          </a:xfrm>
          <a:prstGeom prst="rect">
            <a:avLst/>
          </a:prstGeom>
          <a:solidFill>
            <a:srgbClr val="E2ECF8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2038"/>
                </a:solidFill>
                <a:latin typeface="Calibri"/>
              </a:rPr>
              <a:t>Failure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31136" y="2523744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B41616"/>
                </a:solidFill>
                <a:latin typeface="Calibri"/>
              </a:rPr>
              <a:t>Cascades to caller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523744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27038"/>
                </a:solidFill>
                <a:latin typeface="Calibri"/>
              </a:rPr>
              <a:t>Isolated per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99232"/>
            <a:ext cx="1920240" cy="438912"/>
          </a:xfrm>
          <a:prstGeom prst="rect">
            <a:avLst/>
          </a:prstGeom>
          <a:solidFill>
            <a:srgbClr val="E2ECF8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2038"/>
                </a:solidFill>
                <a:latin typeface="Calibri"/>
              </a:rPr>
              <a:t>Scalability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1136" y="2999232"/>
            <a:ext cx="2103120" cy="438912"/>
          </a:xfrm>
          <a:prstGeom prst="rect">
            <a:avLst/>
          </a:prstGeom>
          <a:solidFill>
            <a:srgbClr val="F8F9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B41616"/>
                </a:solidFill>
                <a:latin typeface="Calibri"/>
              </a:rPr>
              <a:t>Scale all at once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2999232"/>
            <a:ext cx="2103120" cy="438912"/>
          </a:xfrm>
          <a:prstGeom prst="rect">
            <a:avLst/>
          </a:prstGeom>
          <a:solidFill>
            <a:srgbClr val="F8F9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27038"/>
                </a:solidFill>
                <a:latin typeface="Calibri"/>
              </a:rPr>
              <a:t>Scale each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74720"/>
            <a:ext cx="1920240" cy="438912"/>
          </a:xfrm>
          <a:prstGeom prst="rect">
            <a:avLst/>
          </a:prstGeom>
          <a:solidFill>
            <a:srgbClr val="E2ECF8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2038"/>
                </a:solidFill>
                <a:latin typeface="Calibri"/>
              </a:rPr>
              <a:t>Consistency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31136" y="3474720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B41616"/>
                </a:solidFill>
                <a:latin typeface="Calibri"/>
              </a:rPr>
              <a:t>Strong (done now)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3474720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27038"/>
                </a:solidFill>
                <a:latin typeface="Calibri"/>
              </a:rPr>
              <a:t>Eventual (done later)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50208"/>
            <a:ext cx="1920240" cy="438912"/>
          </a:xfrm>
          <a:prstGeom prst="rect">
            <a:avLst/>
          </a:prstGeom>
          <a:solidFill>
            <a:srgbClr val="E2ECF8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2038"/>
                </a:solidFill>
                <a:latin typeface="Calibri"/>
              </a:rPr>
              <a:t>Debugging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36" y="3950208"/>
            <a:ext cx="2103120" cy="438912"/>
          </a:xfrm>
          <a:prstGeom prst="rect">
            <a:avLst/>
          </a:prstGeom>
          <a:solidFill>
            <a:srgbClr val="F8F9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B41616"/>
                </a:solidFill>
                <a:latin typeface="Calibri"/>
              </a:rPr>
              <a:t>Simple call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950208"/>
            <a:ext cx="2103120" cy="438912"/>
          </a:xfrm>
          <a:prstGeom prst="rect">
            <a:avLst/>
          </a:prstGeom>
          <a:solidFill>
            <a:srgbClr val="F8F9FF"/>
          </a:solidFill>
          <a:ln w="635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27038"/>
                </a:solidFill>
                <a:latin typeface="Calibri"/>
              </a:rPr>
              <a:t>Distributed log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18304"/>
            <a:ext cx="6291072" cy="438912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91456"/>
            <a:ext cx="6108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88AA"/>
                </a:solidFill>
                <a:latin typeface="Calibri"/>
              </a:rPr>
              <a:t>Rule:  choose async when you do NOT need the result right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266944"/>
            <a:ext cx="1737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2038"/>
                </a:solidFill>
                <a:latin typeface="Calibri"/>
              </a:rPr>
              <a:t>Use sync when: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7984" y="5266944"/>
            <a:ext cx="4389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Login, balance check — result needed immediately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687568"/>
            <a:ext cx="1737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02038"/>
                </a:solidFill>
                <a:latin typeface="Calibri"/>
              </a:rPr>
              <a:t>Use async when: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5687568"/>
            <a:ext cx="4389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Email, invoice, label — can happen in background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903720" y="1097280"/>
          <a:ext cx="5047488" cy="3950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7" name="Rectangle 36"/>
          <p:cNvSpPr/>
          <p:nvPr/>
        </p:nvSpPr>
        <p:spPr>
          <a:xfrm>
            <a:off x="6903720" y="5157216"/>
            <a:ext cx="5047488" cy="438912"/>
          </a:xfrm>
          <a:prstGeom prst="rect">
            <a:avLst/>
          </a:prstGeom>
          <a:solidFill>
            <a:srgbClr val="E6F7EB"/>
          </a:solidFill>
          <a:ln w="1270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5230368"/>
            <a:ext cx="468172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27038"/>
                </a:solidFill>
                <a:latin typeface="Calibri"/>
              </a:rPr>
              <a:t>720 ms  vs  48 ms  —  15x faster HTTP response to the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Choreography Saga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Distributed transactions without a central 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87568" cy="877824"/>
          </a:xfrm>
          <a:prstGeom prst="rect">
            <a:avLst/>
          </a:prstGeom>
          <a:solidFill>
            <a:srgbClr val="E6F7EB"/>
          </a:solidFill>
          <a:ln w="1143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33856"/>
            <a:ext cx="1828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27038"/>
                </a:solidFill>
                <a:latin typeface="Calibri"/>
              </a:rPr>
              <a:t>Happy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335024"/>
            <a:ext cx="1280160" cy="512064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Order
Placed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00784" y="1591056"/>
            <a:ext cx="201168" cy="0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01952" y="1335024"/>
            <a:ext cx="1280160" cy="512064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Stock
Reserved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1591056"/>
            <a:ext cx="201168" cy="0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83280" y="1335024"/>
            <a:ext cx="1280160" cy="512064"/>
          </a:xfrm>
          <a:prstGeom prst="rect">
            <a:avLst/>
          </a:prstGeom>
          <a:solidFill>
            <a:srgbClr val="4E2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Payment
Succeeded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1591056"/>
            <a:ext cx="201167" cy="0"/>
          </a:xfrm>
          <a:prstGeom prst="line">
            <a:avLst/>
          </a:prstGeom>
          <a:ln w="1778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864608" y="1335024"/>
            <a:ext cx="1280160" cy="512064"/>
          </a:xfrm>
          <a:prstGeom prst="rect">
            <a:avLst/>
          </a:prstGeom>
          <a:solidFill>
            <a:srgbClr val="0A4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Order
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03120"/>
            <a:ext cx="5687568" cy="1097280"/>
          </a:xfrm>
          <a:prstGeom prst="rect">
            <a:avLst/>
          </a:prstGeom>
          <a:solidFill>
            <a:srgbClr val="FCEBEB"/>
          </a:solidFill>
          <a:ln w="1143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76272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B41616"/>
                </a:solidFill>
                <a:latin typeface="Calibri"/>
              </a:rPr>
              <a:t>Failure:  PaymentFailed  -&gt;  compensating transactions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2468880"/>
            <a:ext cx="1645920" cy="512064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Order
Placed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66544" y="2724912"/>
            <a:ext cx="201168" cy="0"/>
          </a:xfrm>
          <a:prstGeom prst="line">
            <a:avLst/>
          </a:prstGeom>
          <a:ln w="1778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67712" y="2468880"/>
            <a:ext cx="1645920" cy="512064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Stock
Reserved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13632" y="2724912"/>
            <a:ext cx="201168" cy="0"/>
          </a:xfrm>
          <a:prstGeom prst="line">
            <a:avLst/>
          </a:prstGeom>
          <a:ln w="1778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0" y="2468880"/>
            <a:ext cx="1645920" cy="512064"/>
          </a:xfrm>
          <a:prstGeom prst="rect">
            <a:avLst/>
          </a:prstGeom>
          <a:solidFill>
            <a:srgbClr val="98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Payment
Failed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328416"/>
            <a:ext cx="4114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B41616"/>
                </a:solidFill>
                <a:latin typeface="Calibri"/>
              </a:rPr>
              <a:t>Compensating transactions: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563624" y="2980944"/>
            <a:ext cx="3374136" cy="621792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74320" y="3602736"/>
            <a:ext cx="2578608" cy="731520"/>
          </a:xfrm>
          <a:prstGeom prst="rect">
            <a:avLst/>
          </a:prstGeom>
          <a:solidFill>
            <a:srgbClr val="006666"/>
          </a:solidFill>
          <a:ln w="1270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Stock
Released
(reservation undone)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398264" y="2980944"/>
            <a:ext cx="539496" cy="621792"/>
          </a:xfrm>
          <a:prstGeom prst="line">
            <a:avLst/>
          </a:prstGeom>
          <a:ln w="1524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108960" y="3602736"/>
            <a:ext cx="2578608" cy="731520"/>
          </a:xfrm>
          <a:prstGeom prst="rect">
            <a:avLst/>
          </a:prstGeom>
          <a:solidFill>
            <a:srgbClr val="005492"/>
          </a:solidFill>
          <a:ln w="1270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Order
Cancelled
(order closed)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1078992"/>
            <a:ext cx="57790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02038"/>
                </a:solidFill>
                <a:latin typeface="Calibri"/>
              </a:rPr>
              <a:t>Compensation consumer (StockConsumer):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1389888"/>
            <a:ext cx="5779008" cy="2834640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490472"/>
            <a:ext cx="5541264" cy="2633472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urier New"/>
              </a:rPr>
              <a:t>public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569CD6"/>
                </a:solidFill>
                <a:latin typeface="Courier New"/>
              </a:rPr>
              <a:t>async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569CD6"/>
                </a:solidFill>
                <a:latin typeface="Courier New"/>
              </a:rPr>
              <a:t>Task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4EC9B0"/>
                </a:solidFill>
                <a:latin typeface="Courier New"/>
              </a:rPr>
              <a:t>Consume</a:t>
            </a:r>
            <a:r>
              <a:rPr sz="1050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4EC9B0"/>
                </a:solidFill>
                <a:latin typeface="Courier New"/>
              </a:rPr>
              <a:t>ConsumeContext</a:t>
            </a:r>
            <a:r>
              <a:rPr sz="1050">
                <a:solidFill>
                  <a:srgbClr val="D4D4D4"/>
                </a:solidFill>
                <a:latin typeface="Courier New"/>
              </a:rPr>
              <a:t>&lt;</a:t>
            </a:r>
            <a:r>
              <a:rPr sz="1050">
                <a:solidFill>
                  <a:srgbClr val="4EC9B0"/>
                </a:solidFill>
                <a:latin typeface="Courier New"/>
              </a:rPr>
              <a:t>PaymentFailed</a:t>
            </a:r>
            <a:r>
              <a:rPr sz="1050">
                <a:solidFill>
                  <a:srgbClr val="D4D4D4"/>
                </a:solidFill>
                <a:latin typeface="Courier New"/>
              </a:rPr>
              <a:t>&gt; </a:t>
            </a:r>
            <a:r>
              <a:rPr sz="1050">
                <a:solidFill>
                  <a:srgbClr val="D4D4D4"/>
                </a:solidFill>
                <a:latin typeface="Courier New"/>
              </a:rPr>
              <a:t>context</a:t>
            </a:r>
            <a:r>
              <a:rPr sz="1050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569CD6"/>
                </a:solidFill>
                <a:latin typeface="Courier New"/>
              </a:rPr>
              <a:t>var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D4D4D4"/>
                </a:solidFill>
                <a:latin typeface="Courier New"/>
              </a:rPr>
              <a:t>msg</a:t>
            </a:r>
            <a:r>
              <a:rPr sz="1050">
                <a:solidFill>
                  <a:srgbClr val="D4D4D4"/>
                </a:solidFill>
                <a:latin typeface="Courier New"/>
              </a:rPr>
              <a:t> = </a:t>
            </a:r>
            <a:r>
              <a:rPr sz="1050">
                <a:solidFill>
                  <a:srgbClr val="D4D4D4"/>
                </a:solidFill>
                <a:latin typeface="Courier New"/>
              </a:rPr>
              <a:t>context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Message</a:t>
            </a:r>
            <a:r>
              <a:rPr sz="1050">
                <a:solidFill>
                  <a:srgbClr val="D4D4D4"/>
                </a:solidFill>
                <a:latin typeface="Courier New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urier New"/>
              </a:rPr>
              <a:t>    // release the held inventory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569CD6"/>
                </a:solidFill>
                <a:latin typeface="Courier New"/>
              </a:rPr>
              <a:t>await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D4D4D4"/>
                </a:solidFill>
                <a:latin typeface="Courier New"/>
              </a:rPr>
              <a:t>context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Publish</a:t>
            </a:r>
            <a:r>
              <a:rPr sz="1050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</a:t>
            </a:r>
            <a:r>
              <a:rPr sz="1050">
                <a:solidFill>
                  <a:srgbClr val="569CD6"/>
                </a:solidFill>
                <a:latin typeface="Courier New"/>
              </a:rPr>
              <a:t>new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4EC9B0"/>
                </a:solidFill>
                <a:latin typeface="Courier New"/>
              </a:rPr>
              <a:t>StockReleased</a:t>
            </a:r>
            <a:r>
              <a:rPr sz="105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050">
                <a:solidFill>
                  <a:srgbClr val="4EC9B0"/>
                </a:solidFill>
                <a:latin typeface="Courier New"/>
              </a:rPr>
              <a:t>OrderId</a:t>
            </a:r>
            <a:r>
              <a:rPr sz="1050">
                <a:solidFill>
                  <a:srgbClr val="D4D4D4"/>
                </a:solidFill>
                <a:latin typeface="Courier New"/>
              </a:rPr>
              <a:t>       = </a:t>
            </a:r>
            <a:r>
              <a:rPr sz="1050">
                <a:solidFill>
                  <a:srgbClr val="D4D4D4"/>
                </a:solidFill>
                <a:latin typeface="Courier New"/>
              </a:rPr>
              <a:t>msg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OrderId</a:t>
            </a:r>
            <a:r>
              <a:rPr sz="1050">
                <a:solidFill>
                  <a:srgbClr val="D4D4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050">
                <a:solidFill>
                  <a:srgbClr val="4EC9B0"/>
                </a:solidFill>
                <a:latin typeface="Courier New"/>
              </a:rPr>
              <a:t>CorrelationId</a:t>
            </a:r>
            <a:r>
              <a:rPr sz="1050">
                <a:solidFill>
                  <a:srgbClr val="D4D4D4"/>
                </a:solidFill>
                <a:latin typeface="Courier New"/>
              </a:rPr>
              <a:t> = </a:t>
            </a:r>
            <a:r>
              <a:rPr sz="1050">
                <a:solidFill>
                  <a:srgbClr val="D4D4D4"/>
                </a:solidFill>
                <a:latin typeface="Courier New"/>
              </a:rPr>
              <a:t>msg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CorrelationId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4334256"/>
            <a:ext cx="5779008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425696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02038"/>
                </a:solidFill>
                <a:latin typeface="Calibri"/>
              </a:rPr>
              <a:t>Choreography vs 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791456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·  No distributed lock — each service commits locally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5193792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·  Compensation replaces rollback — forward-only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96128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·  Choreography (our): no central controller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998464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·  Orchestration alternative: saga manager directs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Idempotency — Handling Duplicate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RabbitMQ guarantees at-least-once delivery, not exactly-once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7313371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115568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02038"/>
                </a:solidFill>
                <a:latin typeface="Calibri"/>
              </a:rPr>
              <a:t>Consumer decision logic: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444752"/>
            <a:ext cx="2798064" cy="566928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Message arrives
(with MessageId)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2011680"/>
            <a:ext cx="0" cy="219456"/>
          </a:xfrm>
          <a:prstGeom prst="line">
            <a:avLst/>
          </a:prstGeom>
          <a:ln w="1905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475488" y="2231136"/>
            <a:ext cx="2798064" cy="1005840"/>
          </a:xfrm>
          <a:prstGeom prst="diamond">
            <a:avLst/>
          </a:prstGeom>
          <a:solidFill>
            <a:srgbClr val="E2ECF8"/>
          </a:solidFill>
          <a:ln w="1524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02038"/>
                </a:solidFill>
                <a:latin typeface="Calibri"/>
              </a:rPr>
              <a:t>Already in
ProcessedMessages?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73552" y="2734056"/>
            <a:ext cx="658368" cy="0"/>
          </a:xfrm>
          <a:prstGeom prst="line">
            <a:avLst/>
          </a:prstGeom>
          <a:ln w="1651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28416" y="2496312"/>
            <a:ext cx="566928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B41616"/>
                </a:solidFill>
                <a:latin typeface="Calibri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423160"/>
            <a:ext cx="1719072" cy="621792"/>
          </a:xfrm>
          <a:prstGeom prst="rect">
            <a:avLst/>
          </a:prstGeom>
          <a:solidFill>
            <a:srgbClr val="FCEBEB"/>
          </a:solidFill>
          <a:ln w="1270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41616"/>
                </a:solidFill>
                <a:latin typeface="Calibri"/>
              </a:rPr>
              <a:t>Discard
(return)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19" y="3236976"/>
            <a:ext cx="0" cy="182880"/>
          </a:xfrm>
          <a:prstGeom prst="line">
            <a:avLst/>
          </a:prstGeom>
          <a:ln w="1651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47672" y="3273552"/>
            <a:ext cx="457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27038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3419856"/>
            <a:ext cx="2798064" cy="56692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INSERT MessageId
(unique constraint)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74519" y="3986784"/>
            <a:ext cx="0" cy="182879"/>
          </a:xfrm>
          <a:prstGeom prst="line">
            <a:avLst/>
          </a:prstGeom>
          <a:ln w="1905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75488" y="4169663"/>
            <a:ext cx="2798064" cy="56692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Process message
(business logic)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4901184"/>
            <a:ext cx="5614416" cy="1042415"/>
          </a:xfrm>
          <a:prstGeom prst="rect">
            <a:avLst/>
          </a:prstGeom>
          <a:solidFill>
            <a:srgbClr val="FFFFFF"/>
          </a:solidFill>
          <a:ln w="1016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974336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0088AA"/>
                </a:solidFill>
                <a:latin typeface="Calibri"/>
              </a:rPr>
              <a:t>ProcessedMessages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248656"/>
            <a:ext cx="53035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102038"/>
                </a:solidFill>
                <a:latin typeface="Calibri"/>
              </a:rPr>
              <a:t>MessageId (PK, UNIQUE)                   ProcessedAt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" y="5486400"/>
            <a:ext cx="5358384" cy="0"/>
          </a:xfrm>
          <a:prstGeom prst="line">
            <a:avLst/>
          </a:prstGeom>
          <a:ln w="635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" y="5504688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58687C"/>
                </a:solidFill>
                <a:latin typeface="Calibri"/>
              </a:rPr>
              <a:t>a9f1-4d22-...-8c3b                       2026-06-14 09:41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705856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B41616"/>
                </a:solidFill>
                <a:latin typeface="Calibri"/>
              </a:rPr>
              <a:t>a9f1-4d22-...-8c3b   DUPLICATE  -&gt; DbUpdateException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1115568"/>
            <a:ext cx="58704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02038"/>
                </a:solidFill>
                <a:latin typeface="Calibri"/>
              </a:rPr>
              <a:t>StockConsumer — idempotency guard: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1444752"/>
            <a:ext cx="5870448" cy="5193792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1545336"/>
            <a:ext cx="5632704" cy="4992624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_db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ProcessedMessages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Add</a:t>
            </a:r>
            <a:r>
              <a:rPr sz="1050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569CD6"/>
                </a:solidFill>
                <a:latin typeface="Courier New"/>
              </a:rPr>
              <a:t>new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4EC9B0"/>
                </a:solidFill>
                <a:latin typeface="Courier New"/>
              </a:rPr>
              <a:t>ProcessedMessage</a:t>
            </a:r>
            <a:r>
              <a:rPr sz="105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</a:t>
            </a:r>
            <a:r>
              <a:rPr sz="1050">
                <a:solidFill>
                  <a:srgbClr val="4EC9B0"/>
                </a:solidFill>
                <a:latin typeface="Courier New"/>
              </a:rPr>
              <a:t>MessageId</a:t>
            </a:r>
            <a:r>
              <a:rPr sz="1050">
                <a:solidFill>
                  <a:srgbClr val="D4D4D4"/>
                </a:solidFill>
                <a:latin typeface="Courier New"/>
              </a:rPr>
              <a:t>   = </a:t>
            </a:r>
            <a:r>
              <a:rPr sz="1050">
                <a:solidFill>
                  <a:srgbClr val="D4D4D4"/>
                </a:solidFill>
                <a:latin typeface="Courier New"/>
              </a:rPr>
              <a:t>context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MessageId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              ?? </a:t>
            </a:r>
            <a:r>
              <a:rPr sz="1050">
                <a:solidFill>
                  <a:srgbClr val="569CD6"/>
                </a:solidFill>
                <a:latin typeface="Courier New"/>
              </a:rPr>
              <a:t>Guid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Empty</a:t>
            </a:r>
            <a:r>
              <a:rPr sz="1050">
                <a:solidFill>
                  <a:srgbClr val="D4D4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</a:t>
            </a:r>
            <a:r>
              <a:rPr sz="1050">
                <a:solidFill>
                  <a:srgbClr val="4EC9B0"/>
                </a:solidFill>
                <a:latin typeface="Courier New"/>
              </a:rPr>
              <a:t>ProcessedAt</a:t>
            </a:r>
            <a:r>
              <a:rPr sz="1050">
                <a:solidFill>
                  <a:srgbClr val="D4D4D4"/>
                </a:solidFill>
                <a:latin typeface="Courier New"/>
              </a:rPr>
              <a:t> = </a:t>
            </a:r>
            <a:r>
              <a:rPr sz="1050">
                <a:solidFill>
                  <a:srgbClr val="569CD6"/>
                </a:solidFill>
                <a:latin typeface="Courier New"/>
              </a:rPr>
              <a:t>DateTime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UtcNow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urier New"/>
              </a:rPr>
              <a:t>try</a:t>
            </a:r>
            <a:r>
              <a:rPr sz="105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569CD6"/>
                </a:solidFill>
                <a:latin typeface="Courier New"/>
              </a:rPr>
              <a:t>await</a:t>
            </a: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  <a:r>
              <a:rPr sz="1050">
                <a:solidFill>
                  <a:srgbClr val="D4D4D4"/>
                </a:solidFill>
                <a:latin typeface="Courier New"/>
              </a:rPr>
              <a:t>_db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SaveChangesAsync</a:t>
            </a:r>
            <a:r>
              <a:rPr sz="105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69CD6"/>
                </a:solidFill>
                <a:latin typeface="Courier New"/>
              </a:rPr>
              <a:t>catch</a:t>
            </a:r>
            <a:r>
              <a:rPr sz="1050">
                <a:solidFill>
                  <a:srgbClr val="D4D4D4"/>
                </a:solidFill>
                <a:latin typeface="Courier New"/>
              </a:rPr>
              <a:t> (</a:t>
            </a:r>
            <a:r>
              <a:rPr sz="1050">
                <a:solidFill>
                  <a:srgbClr val="4EC9B0"/>
                </a:solidFill>
                <a:latin typeface="Courier New"/>
              </a:rPr>
              <a:t>DbUpdateException</a:t>
            </a:r>
            <a:r>
              <a:rPr sz="105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D4D4D4"/>
                </a:solidFill>
                <a:latin typeface="Courier New"/>
              </a:rPr>
              <a:t>_logger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LogWarning</a:t>
            </a:r>
            <a:r>
              <a:rPr sz="1050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</a:t>
            </a:r>
            <a:r>
              <a:rPr sz="1050">
                <a:solidFill>
                  <a:srgbClr val="CE9178"/>
                </a:solidFill>
                <a:latin typeface="Courier New"/>
              </a:rPr>
              <a:t>"Duplicate {Id} - discarded"</a:t>
            </a:r>
            <a:r>
              <a:rPr sz="1050">
                <a:solidFill>
                  <a:srgbClr val="D4D4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  </a:t>
            </a:r>
            <a:r>
              <a:rPr sz="1050">
                <a:solidFill>
                  <a:srgbClr val="D4D4D4"/>
                </a:solidFill>
                <a:latin typeface="Courier New"/>
              </a:rPr>
              <a:t>context</a:t>
            </a:r>
            <a:r>
              <a:rPr sz="1050">
                <a:solidFill>
                  <a:srgbClr val="D4D4D4"/>
                </a:solidFill>
                <a:latin typeface="Courier New"/>
              </a:rPr>
              <a:t>.</a:t>
            </a:r>
            <a:r>
              <a:rPr sz="1050">
                <a:solidFill>
                  <a:srgbClr val="4EC9B0"/>
                </a:solidFill>
                <a:latin typeface="Courier New"/>
              </a:rPr>
              <a:t>MessageId</a:t>
            </a:r>
            <a:r>
              <a:rPr sz="105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569CD6"/>
                </a:solidFill>
                <a:latin typeface="Courier New"/>
              </a:rPr>
              <a:t>return</a:t>
            </a:r>
            <a:r>
              <a:rPr sz="1050">
                <a:solidFill>
                  <a:srgbClr val="D4D4D4"/>
                </a:solidFill>
                <a:latin typeface="Courier New"/>
              </a:rPr>
              <a:t>; </a:t>
            </a:r>
            <a:r>
              <a:rPr sz="1050">
                <a:solidFill>
                  <a:srgbClr val="6A9955"/>
                </a:solidFill>
                <a:latin typeface="Courier New"/>
              </a:rPr>
              <a:t>// ack, don't process twice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urier New"/>
              </a:rPr>
              <a:t>// normal business logic...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Resilience — Retries &amp; Dead-Letter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Transient failures are expected — handle them without losing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8532266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115568"/>
            <a:ext cx="10058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02038"/>
                </a:solidFill>
                <a:latin typeface="Calibri"/>
              </a:rPr>
              <a:t>Retry timeline  (ShippingConsumer,  SHIPPING_FAILS=true):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" y="2231136"/>
            <a:ext cx="11411712" cy="0"/>
          </a:xfrm>
          <a:prstGeom prst="line">
            <a:avLst/>
          </a:prstGeom>
          <a:ln w="1270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2608" y="1481328"/>
            <a:ext cx="2231136" cy="749808"/>
          </a:xfrm>
          <a:prstGeom prst="rect">
            <a:avLst/>
          </a:prstGeom>
          <a:solidFill>
            <a:srgbClr val="FCEBEB"/>
          </a:solidFill>
          <a:ln w="1524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B41616"/>
                </a:solidFill>
                <a:latin typeface="Calibri"/>
              </a:rPr>
              <a:t>Attempt 1
(fails)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4168" y="2167128"/>
            <a:ext cx="128016" cy="128016"/>
          </a:xfrm>
          <a:prstGeom prst="rect">
            <a:avLst/>
          </a:prstGeom>
          <a:solidFill>
            <a:srgbClr val="B4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481328"/>
            <a:ext cx="2231136" cy="749808"/>
          </a:xfrm>
          <a:prstGeom prst="rect">
            <a:avLst/>
          </a:prstGeom>
          <a:solidFill>
            <a:srgbClr val="FCEBEB"/>
          </a:solidFill>
          <a:ln w="1524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B41616"/>
                </a:solidFill>
                <a:latin typeface="Calibri"/>
              </a:rPr>
              <a:t>Wait 2 s
Attempt 2
(fails)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59" y="2167128"/>
            <a:ext cx="128016" cy="128016"/>
          </a:xfrm>
          <a:prstGeom prst="rect">
            <a:avLst/>
          </a:prstGeom>
          <a:solidFill>
            <a:srgbClr val="B4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93792" y="1481328"/>
            <a:ext cx="2231136" cy="749808"/>
          </a:xfrm>
          <a:prstGeom prst="rect">
            <a:avLst/>
          </a:prstGeom>
          <a:solidFill>
            <a:srgbClr val="FCEBEB"/>
          </a:solidFill>
          <a:ln w="1524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B41616"/>
                </a:solidFill>
                <a:latin typeface="Calibri"/>
              </a:rPr>
              <a:t>Wait 2 s
Attempt 3
(fails)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1" y="2167128"/>
            <a:ext cx="128016" cy="128016"/>
          </a:xfrm>
          <a:prstGeom prst="rect">
            <a:avLst/>
          </a:prstGeom>
          <a:solidFill>
            <a:srgbClr val="B4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27264" y="1481328"/>
            <a:ext cx="2231136" cy="749808"/>
          </a:xfrm>
          <a:prstGeom prst="rect">
            <a:avLst/>
          </a:prstGeom>
          <a:solidFill>
            <a:srgbClr val="FCF2E2"/>
          </a:solidFill>
          <a:ln w="15240">
            <a:solidFill>
              <a:srgbClr val="9C4E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C4E04"/>
                </a:solidFill>
                <a:latin typeface="Calibri"/>
              </a:rPr>
              <a:t>Dead-Letter
Queue (_error)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8824" y="2167128"/>
            <a:ext cx="128016" cy="128016"/>
          </a:xfrm>
          <a:prstGeom prst="rect">
            <a:avLst/>
          </a:prstGeom>
          <a:solidFill>
            <a:srgbClr val="9C4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523744" y="1856231"/>
            <a:ext cx="219456" cy="0"/>
          </a:xfrm>
          <a:prstGeom prst="line">
            <a:avLst/>
          </a:prstGeom>
          <a:ln w="1397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74336" y="1856231"/>
            <a:ext cx="219456" cy="0"/>
          </a:xfrm>
          <a:prstGeom prst="line">
            <a:avLst/>
          </a:prstGeom>
          <a:ln w="1397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24927" y="1856231"/>
            <a:ext cx="402337" cy="0"/>
          </a:xfrm>
          <a:prstGeom prst="line">
            <a:avLst/>
          </a:prstGeom>
          <a:ln w="13970">
            <a:solidFill>
              <a:srgbClr val="B4161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2608" y="2322576"/>
            <a:ext cx="11612880" cy="402336"/>
          </a:xfrm>
          <a:prstGeom prst="rect">
            <a:avLst/>
          </a:prstGeom>
          <a:solidFill>
            <a:srgbClr val="FCF2E2"/>
          </a:solidFill>
          <a:ln w="10160">
            <a:solidFill>
              <a:srgbClr val="9C4E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386584"/>
            <a:ext cx="112471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C4E04"/>
                </a:solidFill>
                <a:latin typeface="Calibri"/>
              </a:rPr>
              <a:t>No message ever lost  ·  inspect in RabbitMQ UI at :15672  ·  fix root cause  ·  requeue  -&gt;  shipping-service_error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2834640"/>
            <a:ext cx="6400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02038"/>
                </a:solidFill>
                <a:latin typeface="Calibri"/>
              </a:rPr>
              <a:t>MassTransit retry + DLQ (ShippingConsumer/Program.cs):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145536"/>
            <a:ext cx="5669280" cy="3017520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46120"/>
            <a:ext cx="5431536" cy="2816351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cfg</a:t>
            </a:r>
            <a:r>
              <a:rPr sz="1100">
                <a:solidFill>
                  <a:srgbClr val="D4D4D4"/>
                </a:solidFill>
                <a:latin typeface="Courier New"/>
              </a:rPr>
              <a:t>.</a:t>
            </a:r>
            <a:r>
              <a:rPr sz="1100">
                <a:solidFill>
                  <a:srgbClr val="4EC9B0"/>
                </a:solidFill>
                <a:latin typeface="Courier New"/>
              </a:rPr>
              <a:t>ReceiveEndpoint</a:t>
            </a:r>
            <a:r>
              <a:rPr sz="1100">
                <a:solidFill>
                  <a:srgbClr val="D4D4D4"/>
                </a:solidFill>
                <a:latin typeface="Courier New"/>
              </a:rPr>
              <a:t>(</a:t>
            </a:r>
            <a:r>
              <a:rPr sz="1100">
                <a:solidFill>
                  <a:srgbClr val="CE9178"/>
                </a:solidFill>
                <a:latin typeface="Courier New"/>
              </a:rPr>
              <a:t>"shipping-service"</a:t>
            </a:r>
            <a:r>
              <a:rPr sz="1100">
                <a:solidFill>
                  <a:srgbClr val="D4D4D4"/>
                </a:solidFill>
                <a:latin typeface="Courier New"/>
              </a:rPr>
              <a:t>, </a:t>
            </a:r>
            <a:r>
              <a:rPr sz="1100">
                <a:solidFill>
                  <a:srgbClr val="D4D4D4"/>
                </a:solidFill>
                <a:latin typeface="Courier New"/>
              </a:rPr>
              <a:t>e</a:t>
            </a:r>
            <a:r>
              <a:rPr sz="1100">
                <a:solidFill>
                  <a:srgbClr val="D4D4D4"/>
                </a:solidFill>
                <a:latin typeface="Courier New"/>
              </a:rPr>
              <a:t>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urier New"/>
              </a:rPr>
              <a:t>    // 3 retries, 2 seconds apart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    </a:t>
            </a:r>
            <a:r>
              <a:rPr sz="1100">
                <a:solidFill>
                  <a:srgbClr val="D4D4D4"/>
                </a:solidFill>
                <a:latin typeface="Courier New"/>
              </a:rPr>
              <a:t>e</a:t>
            </a:r>
            <a:r>
              <a:rPr sz="1100">
                <a:solidFill>
                  <a:srgbClr val="D4D4D4"/>
                </a:solidFill>
                <a:latin typeface="Courier New"/>
              </a:rPr>
              <a:t>.</a:t>
            </a:r>
            <a:r>
              <a:rPr sz="1100">
                <a:solidFill>
                  <a:srgbClr val="4EC9B0"/>
                </a:solidFill>
                <a:latin typeface="Courier New"/>
              </a:rPr>
              <a:t>UseMessageRetry</a:t>
            </a:r>
            <a:r>
              <a:rPr sz="1100">
                <a:solidFill>
                  <a:srgbClr val="D4D4D4"/>
                </a:solidFill>
                <a:latin typeface="Courier New"/>
              </a:rPr>
              <a:t>(</a:t>
            </a:r>
            <a:r>
              <a:rPr sz="1100">
                <a:solidFill>
                  <a:srgbClr val="D4D4D4"/>
                </a:solidFill>
                <a:latin typeface="Courier New"/>
              </a:rPr>
              <a:t>r</a:t>
            </a:r>
            <a:r>
              <a:rPr sz="1100">
                <a:solidFill>
                  <a:srgbClr val="D4D4D4"/>
                </a:solidFill>
                <a:latin typeface="Courier New"/>
              </a:rPr>
              <a:t>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        </a:t>
            </a:r>
            <a:r>
              <a:rPr sz="1100">
                <a:solidFill>
                  <a:srgbClr val="D4D4D4"/>
                </a:solidFill>
                <a:latin typeface="Courier New"/>
              </a:rPr>
              <a:t>r</a:t>
            </a:r>
            <a:r>
              <a:rPr sz="1100">
                <a:solidFill>
                  <a:srgbClr val="D4D4D4"/>
                </a:solidFill>
                <a:latin typeface="Courier New"/>
              </a:rPr>
              <a:t>.</a:t>
            </a:r>
            <a:r>
              <a:rPr sz="1100">
                <a:solidFill>
                  <a:srgbClr val="4EC9B0"/>
                </a:solidFill>
                <a:latin typeface="Courier New"/>
              </a:rPr>
              <a:t>Interval</a:t>
            </a:r>
            <a:r>
              <a:rPr sz="1100">
                <a:solidFill>
                  <a:srgbClr val="D4D4D4"/>
                </a:solidFill>
                <a:latin typeface="Courier New"/>
              </a:rPr>
              <a:t>(</a:t>
            </a:r>
            <a:r>
              <a:rPr sz="1100">
                <a:solidFill>
                  <a:srgbClr val="D4D4D4"/>
                </a:solidFill>
                <a:latin typeface="Courier New"/>
              </a:rPr>
              <a:t>3</a:t>
            </a:r>
            <a:r>
              <a:rPr sz="1100">
                <a:solidFill>
                  <a:srgbClr val="D4D4D4"/>
                </a:solidFill>
                <a:latin typeface="Courier New"/>
              </a:rPr>
              <a:t>, </a:t>
            </a:r>
            <a:r>
              <a:rPr sz="1100">
                <a:solidFill>
                  <a:srgbClr val="4EC9B0"/>
                </a:solidFill>
                <a:latin typeface="Courier New"/>
              </a:rPr>
              <a:t>TimeSpan</a:t>
            </a:r>
            <a:r>
              <a:rPr sz="1100">
                <a:solidFill>
                  <a:srgbClr val="D4D4D4"/>
                </a:solidFill>
                <a:latin typeface="Courier New"/>
              </a:rPr>
              <a:t>.</a:t>
            </a:r>
            <a:r>
              <a:rPr sz="1100">
                <a:solidFill>
                  <a:srgbClr val="4EC9B0"/>
                </a:solidFill>
                <a:latin typeface="Courier New"/>
              </a:rPr>
              <a:t>FromSeconds</a:t>
            </a:r>
            <a:r>
              <a:rPr sz="1100">
                <a:solidFill>
                  <a:srgbClr val="D4D4D4"/>
                </a:solidFill>
                <a:latin typeface="Courier New"/>
              </a:rPr>
              <a:t>(</a:t>
            </a:r>
            <a:r>
              <a:rPr sz="1100">
                <a:solidFill>
                  <a:srgbClr val="D4D4D4"/>
                </a:solidFill>
                <a:latin typeface="Courier New"/>
              </a:rPr>
              <a:t>2</a:t>
            </a:r>
            <a:r>
              <a:rPr sz="1100">
                <a:solidFill>
                  <a:srgbClr val="D4D4D4"/>
                </a:solidFill>
                <a:latin typeface="Courier New"/>
              </a:rPr>
              <a:t>)));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urier New"/>
              </a:rPr>
              <a:t>    // after all retries: moves 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urier New"/>
              </a:rPr>
              <a:t>    // shipping-service_error (DLQ)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    </a:t>
            </a:r>
            <a:r>
              <a:rPr sz="1100">
                <a:solidFill>
                  <a:srgbClr val="D4D4D4"/>
                </a:solidFill>
                <a:latin typeface="Courier New"/>
              </a:rPr>
              <a:t>e</a:t>
            </a:r>
            <a:r>
              <a:rPr sz="1100">
                <a:solidFill>
                  <a:srgbClr val="D4D4D4"/>
                </a:solidFill>
                <a:latin typeface="Courier New"/>
              </a:rPr>
              <a:t>.</a:t>
            </a:r>
            <a:r>
              <a:rPr sz="1100">
                <a:solidFill>
                  <a:srgbClr val="4EC9B0"/>
                </a:solidFill>
                <a:latin typeface="Courier New"/>
              </a:rPr>
              <a:t>ConfigureConsumer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        &lt;</a:t>
            </a:r>
            <a:r>
              <a:rPr sz="1100">
                <a:solidFill>
                  <a:srgbClr val="4EC9B0"/>
                </a:solidFill>
                <a:latin typeface="Courier New"/>
              </a:rPr>
              <a:t>OrderConfirmedConsumer</a:t>
            </a:r>
            <a:r>
              <a:rPr sz="1100">
                <a:solidFill>
                  <a:srgbClr val="D4D4D4"/>
                </a:solidFill>
                <a:latin typeface="Courier New"/>
              </a:rPr>
              <a:t>&gt;(</a:t>
            </a:r>
            <a:r>
              <a:rPr sz="1100">
                <a:solidFill>
                  <a:srgbClr val="D4D4D4"/>
                </a:solidFill>
                <a:latin typeface="Courier New"/>
              </a:rPr>
              <a:t>context</a:t>
            </a:r>
            <a:r>
              <a:rPr sz="110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urier New"/>
              </a:rPr>
              <a:t>});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834640"/>
            <a:ext cx="5760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 i="0">
                <a:solidFill>
                  <a:srgbClr val="102038"/>
                </a:solidFill>
                <a:latin typeface="Calibri"/>
              </a:rPr>
              <a:t>RabbitMQ queues: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145536"/>
            <a:ext cx="57607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0040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27038"/>
                </a:solidFill>
                <a:latin typeface="Calibri"/>
              </a:rPr>
              <a:t>shipping-service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200400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58687C"/>
                </a:solidFill>
                <a:latin typeface="Calibri"/>
              </a:rPr>
              <a:t>active — normal processing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694176"/>
            <a:ext cx="57607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9C4E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749039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9C4E04"/>
                </a:solidFill>
                <a:latin typeface="Calibri"/>
              </a:rPr>
              <a:t>shipping-service_error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49039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9C4E04"/>
                </a:solidFill>
                <a:latin typeface="Calibri"/>
              </a:rPr>
              <a:t>dead-lettered after 3 retries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4242816"/>
            <a:ext cx="57607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297679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27038"/>
                </a:solidFill>
                <a:latin typeface="Calibri"/>
              </a:rPr>
              <a:t>invoice-service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297679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58687C"/>
                </a:solidFill>
                <a:latin typeface="Calibri"/>
              </a:rPr>
              <a:t>active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791455"/>
            <a:ext cx="57607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846319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27038"/>
                </a:solidFill>
                <a:latin typeface="Calibri"/>
              </a:rPr>
              <a:t>warehouse-service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846319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58687C"/>
                </a:solidFill>
                <a:latin typeface="Calibri"/>
              </a:rPr>
              <a:t>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5340095"/>
            <a:ext cx="57607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394959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127038"/>
                </a:solidFill>
                <a:latin typeface="Calibri"/>
              </a:rPr>
              <a:t>notification-service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394959"/>
            <a:ext cx="5394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58687C"/>
                </a:solidFill>
                <a:latin typeface="Calibri"/>
              </a:rPr>
              <a:t>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Fan-Out — Publish-Subscribe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One event triggers four independent consumers simultaneously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9751161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2011680" cy="841248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Order Service
(publisher)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3163824"/>
            <a:ext cx="457200" cy="0"/>
          </a:xfrm>
          <a:prstGeom prst="line">
            <a:avLst/>
          </a:prstGeom>
          <a:ln w="20320">
            <a:solidFill>
              <a:srgbClr val="0088A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34640" y="2743200"/>
            <a:ext cx="2450592" cy="841248"/>
          </a:xfrm>
          <a:prstGeom prst="rect">
            <a:avLst/>
          </a:prstGeom>
          <a:solidFill>
            <a:srgbClr val="0A4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OrderConfirmed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21024"/>
            <a:ext cx="245059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58687C"/>
                </a:solidFill>
                <a:latin typeface="Calibri"/>
              </a:rPr>
              <a:t>RabbitMQ fanout exchange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285232" y="1609344"/>
            <a:ext cx="1298448" cy="1554480"/>
          </a:xfrm>
          <a:prstGeom prst="line">
            <a:avLst/>
          </a:prstGeom>
          <a:ln w="1905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83680" y="1170432"/>
            <a:ext cx="5413248" cy="877824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Invoice Consumer
(generates PDF invoice)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285232" y="2743200"/>
            <a:ext cx="1298448" cy="420624"/>
          </a:xfrm>
          <a:prstGeom prst="line">
            <a:avLst/>
          </a:prstGeom>
          <a:ln w="1905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0" y="2304288"/>
            <a:ext cx="5413248" cy="877824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Warehouse Consumer
(picks items for the order)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5232" y="3163824"/>
            <a:ext cx="1298448" cy="713232"/>
          </a:xfrm>
          <a:prstGeom prst="line">
            <a:avLst/>
          </a:prstGeom>
          <a:ln w="1905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83680" y="3438144"/>
            <a:ext cx="5413248" cy="877824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Shipping Consumer
(creates shipping label)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85232" y="3163824"/>
            <a:ext cx="1298448" cy="1847088"/>
          </a:xfrm>
          <a:prstGeom prst="line">
            <a:avLst/>
          </a:prstGeom>
          <a:ln w="19050">
            <a:solidFill>
              <a:srgbClr val="12703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583680" y="4572000"/>
            <a:ext cx="5413248" cy="877824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Notification Consumer
(emails order confirmation)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705856"/>
            <a:ext cx="11649456" cy="749808"/>
          </a:xfrm>
          <a:prstGeom prst="rect">
            <a:avLst/>
          </a:prstGeom>
          <a:solidFill>
            <a:srgbClr val="E2ECF8"/>
          </a:solidFill>
          <a:ln w="1270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283696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02038"/>
                </a:solidFill>
                <a:latin typeface="Calibri"/>
              </a:rPr>
              <a:t>Publisher does NOT know who is listening  —  adding a new consumer requires zero changes to Order Service.
Each consumer has its own named queue  —  slow Invoice does NOT block Shipping.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Four tools, four layers — every pattern exercised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0970056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669280" cy="54864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161288"/>
            <a:ext cx="54132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xUnit 2.9.2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481328"/>
            <a:ext cx="541324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4D2E0"/>
                </a:solidFill>
                <a:latin typeface="Calibri"/>
              </a:rPr>
              <a:t>Test runner &amp; assertions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5486400" cy="1956815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819656"/>
            <a:ext cx="5248656" cy="1755647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[</a:t>
            </a:r>
            <a:r>
              <a:rPr sz="919">
                <a:solidFill>
                  <a:srgbClr val="4EC9B0"/>
                </a:solidFill>
                <a:latin typeface="Courier New"/>
              </a:rPr>
              <a:t>Fact</a:t>
            </a:r>
            <a:r>
              <a:rPr sz="919">
                <a:solidFill>
                  <a:srgbClr val="D4D4D4"/>
                </a:solidFill>
                <a:latin typeface="Courier New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569CD6"/>
                </a:solidFill>
                <a:latin typeface="Courier New"/>
              </a:rPr>
              <a:t>public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569CD6"/>
                </a:solidFill>
                <a:latin typeface="Courier New"/>
              </a:rPr>
              <a:t>async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569CD6"/>
                </a:solidFill>
                <a:latin typeface="Courier New"/>
              </a:rPr>
              <a:t>Task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Consume_InStock_PublishesReserved</a:t>
            </a:r>
            <a:r>
              <a:rPr sz="919">
                <a:solidFill>
                  <a:srgbClr val="D4D4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</a:t>
            </a:r>
            <a:r>
              <a:rPr sz="919">
                <a:solidFill>
                  <a:srgbClr val="569CD6"/>
                </a:solidFill>
                <a:latin typeface="Courier New"/>
              </a:rPr>
              <a:t>var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consumer</a:t>
            </a:r>
            <a:r>
              <a:rPr sz="919">
                <a:solidFill>
                  <a:srgbClr val="D4D4D4"/>
                </a:solidFill>
                <a:latin typeface="Courier New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</a:t>
            </a:r>
            <a:r>
              <a:rPr sz="919">
                <a:solidFill>
                  <a:srgbClr val="569CD6"/>
                </a:solidFill>
                <a:latin typeface="Courier New"/>
              </a:rPr>
              <a:t>new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4EC9B0"/>
                </a:solidFill>
                <a:latin typeface="Courier New"/>
              </a:rPr>
              <a:t>OrderPlacedConsumer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  </a:t>
            </a:r>
            <a:r>
              <a:rPr sz="919">
                <a:solidFill>
                  <a:srgbClr val="D4D4D4"/>
                </a:solidFill>
                <a:latin typeface="Courier New"/>
              </a:rPr>
              <a:t>_logger</a:t>
            </a:r>
            <a:r>
              <a:rPr sz="919">
                <a:solidFill>
                  <a:srgbClr val="D4D4D4"/>
                </a:solidFill>
                <a:latin typeface="Courier New"/>
              </a:rPr>
              <a:t>, </a:t>
            </a:r>
            <a:r>
              <a:rPr sz="919">
                <a:solidFill>
                  <a:srgbClr val="D4D4D4"/>
                </a:solidFill>
                <a:latin typeface="Courier New"/>
              </a:rPr>
              <a:t>_db</a:t>
            </a:r>
            <a:r>
              <a:rPr sz="919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</a:t>
            </a:r>
            <a:r>
              <a:rPr sz="919">
                <a:solidFill>
                  <a:srgbClr val="569CD6"/>
                </a:solidFill>
                <a:latin typeface="Courier New"/>
              </a:rPr>
              <a:t>await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consumer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Consume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  </a:t>
            </a:r>
            <a:r>
              <a:rPr sz="919">
                <a:solidFill>
                  <a:srgbClr val="D4D4D4"/>
                </a:solidFill>
                <a:latin typeface="Courier New"/>
              </a:rPr>
              <a:t>_ctx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Object</a:t>
            </a:r>
            <a:r>
              <a:rPr sz="919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6A9955"/>
                </a:solidFill>
                <a:latin typeface="Courier New"/>
              </a:rPr>
              <a:t>    // verified in Moq below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097280"/>
            <a:ext cx="566928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097280"/>
            <a:ext cx="5669280" cy="548640"/>
          </a:xfrm>
          <a:prstGeom prst="rect">
            <a:avLst/>
          </a:prstGeom>
          <a:solidFill>
            <a:srgbClr val="4E2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161288"/>
            <a:ext cx="54132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Moq 4.20.72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481328"/>
            <a:ext cx="541324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4D2E0"/>
                </a:solidFill>
                <a:latin typeface="Calibri"/>
              </a:rPr>
              <a:t>Mock dependencies &amp; verify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1719072"/>
            <a:ext cx="5486400" cy="1956815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19656"/>
            <a:ext cx="5248656" cy="1755647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569CD6"/>
                </a:solidFill>
                <a:latin typeface="Courier New"/>
              </a:rPr>
              <a:t>var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ctx</a:t>
            </a:r>
            <a:r>
              <a:rPr sz="919">
                <a:solidFill>
                  <a:srgbClr val="D4D4D4"/>
                </a:solidFill>
                <a:latin typeface="Courier New"/>
              </a:rPr>
              <a:t> = </a:t>
            </a:r>
            <a:r>
              <a:rPr sz="919">
                <a:solidFill>
                  <a:srgbClr val="569CD6"/>
                </a:solidFill>
                <a:latin typeface="Courier New"/>
              </a:rPr>
              <a:t>new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4EC9B0"/>
                </a:solidFill>
                <a:latin typeface="Courier New"/>
              </a:rPr>
              <a:t>Mock</a:t>
            </a:r>
            <a:r>
              <a:rPr sz="919">
                <a:solidFill>
                  <a:srgbClr val="D4D4D4"/>
                </a:solidFill>
                <a:latin typeface="Courier New"/>
              </a:rPr>
              <a:t>&lt;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ConsumeContext</a:t>
            </a:r>
            <a:r>
              <a:rPr sz="919">
                <a:solidFill>
                  <a:srgbClr val="D4D4D4"/>
                </a:solidFill>
                <a:latin typeface="Courier New"/>
              </a:rPr>
              <a:t>&lt;</a:t>
            </a:r>
            <a:r>
              <a:rPr sz="919">
                <a:solidFill>
                  <a:srgbClr val="4EC9B0"/>
                </a:solidFill>
                <a:latin typeface="Courier New"/>
              </a:rPr>
              <a:t>OrderPlaced</a:t>
            </a:r>
            <a:r>
              <a:rPr sz="919">
                <a:solidFill>
                  <a:srgbClr val="D4D4D4"/>
                </a:solidFill>
                <a:latin typeface="Courier New"/>
              </a:rPr>
              <a:t>&gt;&gt;();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ctx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Setup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D4D4D4"/>
                </a:solidFill>
                <a:latin typeface="Courier New"/>
              </a:rPr>
              <a:t>x</a:t>
            </a:r>
            <a:r>
              <a:rPr sz="919">
                <a:solidFill>
                  <a:srgbClr val="D4D4D4"/>
                </a:solidFill>
                <a:latin typeface="Courier New"/>
              </a:rPr>
              <a:t> =&gt; </a:t>
            </a:r>
            <a:r>
              <a:rPr sz="919">
                <a:solidFill>
                  <a:srgbClr val="D4D4D4"/>
                </a:solidFill>
                <a:latin typeface="Courier New"/>
              </a:rPr>
              <a:t>x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Message</a:t>
            </a:r>
            <a:r>
              <a:rPr sz="919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.</a:t>
            </a:r>
            <a:r>
              <a:rPr sz="919">
                <a:solidFill>
                  <a:srgbClr val="4EC9B0"/>
                </a:solidFill>
                <a:latin typeface="Courier New"/>
              </a:rPr>
              <a:t>Returns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D4D4D4"/>
                </a:solidFill>
                <a:latin typeface="Courier New"/>
              </a:rPr>
              <a:t>order</a:t>
            </a:r>
            <a:r>
              <a:rPr sz="919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ctx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Verify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D4D4D4"/>
                </a:solidFill>
                <a:latin typeface="Courier New"/>
              </a:rPr>
              <a:t>x</a:t>
            </a:r>
            <a:r>
              <a:rPr sz="919">
                <a:solidFill>
                  <a:srgbClr val="D4D4D4"/>
                </a:solidFill>
                <a:latin typeface="Courier New"/>
              </a:rPr>
              <a:t> =&gt; </a:t>
            </a:r>
            <a:r>
              <a:rPr sz="919">
                <a:solidFill>
                  <a:srgbClr val="D4D4D4"/>
                </a:solidFill>
                <a:latin typeface="Courier New"/>
              </a:rPr>
              <a:t>x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Publish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It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Is</a:t>
            </a:r>
            <a:r>
              <a:rPr sz="919">
                <a:solidFill>
                  <a:srgbClr val="D4D4D4"/>
                </a:solidFill>
                <a:latin typeface="Courier New"/>
              </a:rPr>
              <a:t>&lt;</a:t>
            </a:r>
            <a:r>
              <a:rPr sz="919">
                <a:solidFill>
                  <a:srgbClr val="4EC9B0"/>
                </a:solidFill>
                <a:latin typeface="Courier New"/>
              </a:rPr>
              <a:t>StockReserved</a:t>
            </a:r>
            <a:r>
              <a:rPr sz="919">
                <a:solidFill>
                  <a:srgbClr val="D4D4D4"/>
                </a:solidFill>
                <a:latin typeface="Courier New"/>
              </a:rPr>
              <a:t>&gt;(</a:t>
            </a:r>
            <a:r>
              <a:rPr sz="919">
                <a:solidFill>
                  <a:srgbClr val="D4D4D4"/>
                </a:solidFill>
                <a:latin typeface="Courier New"/>
              </a:rPr>
              <a:t>r</a:t>
            </a:r>
            <a:r>
              <a:rPr sz="919">
                <a:solidFill>
                  <a:srgbClr val="D4D4D4"/>
                </a:solidFill>
                <a:latin typeface="Courier New"/>
              </a:rPr>
              <a:t>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</a:t>
            </a:r>
            <a:r>
              <a:rPr sz="919">
                <a:solidFill>
                  <a:srgbClr val="D4D4D4"/>
                </a:solidFill>
                <a:latin typeface="Courier New"/>
              </a:rPr>
              <a:t>r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OrderId</a:t>
            </a:r>
            <a:r>
              <a:rPr sz="919">
                <a:solidFill>
                  <a:srgbClr val="D4D4D4"/>
                </a:solidFill>
                <a:latin typeface="Courier New"/>
              </a:rPr>
              <a:t> == </a:t>
            </a:r>
            <a:r>
              <a:rPr sz="919">
                <a:solidFill>
                  <a:srgbClr val="D4D4D4"/>
                </a:solidFill>
                <a:latin typeface="Courier New"/>
              </a:rPr>
              <a:t>id</a:t>
            </a:r>
            <a:r>
              <a:rPr sz="919">
                <a:solidFill>
                  <a:srgbClr val="D4D4D4"/>
                </a:solidFill>
                <a:latin typeface="Courier New"/>
              </a:rPr>
              <a:t>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It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IsAny</a:t>
            </a:r>
            <a:r>
              <a:rPr sz="919">
                <a:solidFill>
                  <a:srgbClr val="D4D4D4"/>
                </a:solidFill>
                <a:latin typeface="Courier New"/>
              </a:rPr>
              <a:t>&lt;</a:t>
            </a:r>
            <a:r>
              <a:rPr sz="919">
                <a:solidFill>
                  <a:srgbClr val="4EC9B0"/>
                </a:solidFill>
                <a:latin typeface="Courier New"/>
              </a:rPr>
              <a:t>CancellationToken</a:t>
            </a:r>
            <a:r>
              <a:rPr sz="919">
                <a:solidFill>
                  <a:srgbClr val="D4D4D4"/>
                </a:solidFill>
                <a:latin typeface="Courier New"/>
              </a:rPr>
              <a:t>&gt;()),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Times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Once</a:t>
            </a:r>
            <a:r>
              <a:rPr sz="919">
                <a:solidFill>
                  <a:srgbClr val="D4D4D4"/>
                </a:solidFill>
                <a:latin typeface="Courier New"/>
              </a:rPr>
              <a:t>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77056"/>
            <a:ext cx="566928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77056"/>
            <a:ext cx="5669280" cy="548640"/>
          </a:xfrm>
          <a:prstGeom prst="rect">
            <a:avLst/>
          </a:prstGeom>
          <a:solidFill>
            <a:srgbClr val="76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3941064"/>
            <a:ext cx="54132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WireMock.Net 1.6.9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4261104"/>
            <a:ext cx="541324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4D2E0"/>
                </a:solidFill>
                <a:latin typeface="Calibri"/>
              </a:rPr>
              <a:t>Real HTTP stub for payment gateway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98848"/>
            <a:ext cx="5486400" cy="1956815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599432"/>
            <a:ext cx="5248656" cy="1755647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_server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.</a:t>
            </a:r>
            <a:r>
              <a:rPr sz="919">
                <a:solidFill>
                  <a:srgbClr val="4EC9B0"/>
                </a:solidFill>
                <a:latin typeface="Courier New"/>
              </a:rPr>
              <a:t>Given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4EC9B0"/>
                </a:solidFill>
                <a:latin typeface="Courier New"/>
              </a:rPr>
              <a:t>Request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Create</a:t>
            </a:r>
            <a:r>
              <a:rPr sz="919">
                <a:solidFill>
                  <a:srgbClr val="D4D4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.</a:t>
            </a:r>
            <a:r>
              <a:rPr sz="919">
                <a:solidFill>
                  <a:srgbClr val="4EC9B0"/>
                </a:solidFill>
                <a:latin typeface="Courier New"/>
              </a:rPr>
              <a:t>WithPath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CE9178"/>
                </a:solidFill>
                <a:latin typeface="Courier New"/>
              </a:rPr>
              <a:t>"/charge"</a:t>
            </a:r>
            <a:r>
              <a:rPr sz="919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.</a:t>
            </a:r>
            <a:r>
              <a:rPr sz="919">
                <a:solidFill>
                  <a:srgbClr val="4EC9B0"/>
                </a:solidFill>
                <a:latin typeface="Courier New"/>
              </a:rPr>
              <a:t>UsingPost</a:t>
            </a:r>
            <a:r>
              <a:rPr sz="919">
                <a:solidFill>
                  <a:srgbClr val="D4D4D4"/>
                </a:solidFill>
                <a:latin typeface="Courier New"/>
              </a:rPr>
              <a:t>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.</a:t>
            </a:r>
            <a:r>
              <a:rPr sz="919">
                <a:solidFill>
                  <a:srgbClr val="4EC9B0"/>
                </a:solidFill>
                <a:latin typeface="Courier New"/>
              </a:rPr>
              <a:t>RespondWith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</a:t>
            </a:r>
            <a:r>
              <a:rPr sz="919">
                <a:solidFill>
                  <a:srgbClr val="4EC9B0"/>
                </a:solidFill>
                <a:latin typeface="Courier New"/>
              </a:rPr>
              <a:t>Response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Create</a:t>
            </a:r>
            <a:r>
              <a:rPr sz="919">
                <a:solidFill>
                  <a:srgbClr val="D4D4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.</a:t>
            </a:r>
            <a:r>
              <a:rPr sz="919">
                <a:solidFill>
                  <a:srgbClr val="4EC9B0"/>
                </a:solidFill>
                <a:latin typeface="Courier New"/>
              </a:rPr>
              <a:t>WithStatusCode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D4D4D4"/>
                </a:solidFill>
                <a:latin typeface="Courier New"/>
              </a:rPr>
              <a:t>200</a:t>
            </a:r>
            <a:r>
              <a:rPr sz="919">
                <a:solidFill>
                  <a:srgbClr val="D4D4D4"/>
                </a:solidFill>
                <a:latin typeface="Courier New"/>
              </a:rPr>
              <a:t>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569CD6"/>
                </a:solidFill>
                <a:latin typeface="Courier New"/>
              </a:rPr>
              <a:t>var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ok</a:t>
            </a:r>
            <a:r>
              <a:rPr sz="919">
                <a:solidFill>
                  <a:srgbClr val="D4D4D4"/>
                </a:solidFill>
                <a:latin typeface="Courier New"/>
              </a:rPr>
              <a:t> = </a:t>
            </a:r>
            <a:r>
              <a:rPr sz="919">
                <a:solidFill>
                  <a:srgbClr val="569CD6"/>
                </a:solidFill>
                <a:latin typeface="Courier New"/>
              </a:rPr>
              <a:t>await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_client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.</a:t>
            </a:r>
            <a:r>
              <a:rPr sz="919">
                <a:solidFill>
                  <a:srgbClr val="4EC9B0"/>
                </a:solidFill>
                <a:latin typeface="Courier New"/>
              </a:rPr>
              <a:t>ChargeAsync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D4D4D4"/>
                </a:solidFill>
                <a:latin typeface="Courier New"/>
              </a:rPr>
              <a:t>id</a:t>
            </a:r>
            <a:r>
              <a:rPr sz="919">
                <a:solidFill>
                  <a:srgbClr val="D4D4D4"/>
                </a:solidFill>
                <a:latin typeface="Courier New"/>
              </a:rPr>
              <a:t>, </a:t>
            </a:r>
            <a:r>
              <a:rPr sz="919">
                <a:solidFill>
                  <a:srgbClr val="D4D4D4"/>
                </a:solidFill>
                <a:latin typeface="Courier New"/>
              </a:rPr>
              <a:t>49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D4D4D4"/>
                </a:solidFill>
                <a:latin typeface="Courier New"/>
              </a:rPr>
              <a:t>99m</a:t>
            </a:r>
            <a:r>
              <a:rPr sz="919">
                <a:solidFill>
                  <a:srgbClr val="D4D4D4"/>
                </a:solidFill>
                <a:latin typeface="Courier New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4EC9B0"/>
                </a:solidFill>
                <a:latin typeface="Courier New"/>
              </a:rPr>
              <a:t>Assert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True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D4D4D4"/>
                </a:solidFill>
                <a:latin typeface="Courier New"/>
              </a:rPr>
              <a:t>ok</a:t>
            </a:r>
            <a:r>
              <a:rPr sz="919">
                <a:solidFill>
                  <a:srgbClr val="D4D4D4"/>
                </a:solidFill>
                <a:latin typeface="Courier New"/>
              </a:rPr>
              <a:t>);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3877056"/>
            <a:ext cx="566928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877056"/>
            <a:ext cx="5669280" cy="5486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3941064"/>
            <a:ext cx="5413248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Testcontainers 4.0.0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261104"/>
            <a:ext cx="541324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4D2E0"/>
                </a:solidFill>
                <a:latin typeface="Calibri"/>
              </a:rPr>
              <a:t>Real PostgreSQL — constraint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7648" y="4498848"/>
            <a:ext cx="5486400" cy="1956815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599432"/>
            <a:ext cx="5248656" cy="1755647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569CD6"/>
                </a:solidFill>
                <a:latin typeface="Courier New"/>
              </a:rPr>
              <a:t>private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569CD6"/>
                </a:solidFill>
                <a:latin typeface="Courier New"/>
              </a:rPr>
              <a:t>readonly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PostgreSqlContainer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_pg</a:t>
            </a:r>
            <a:r>
              <a:rPr sz="919">
                <a:solidFill>
                  <a:srgbClr val="D4D4D4"/>
                </a:solidFill>
                <a:latin typeface="Courier New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</a:t>
            </a:r>
            <a:r>
              <a:rPr sz="919">
                <a:solidFill>
                  <a:srgbClr val="569CD6"/>
                </a:solidFill>
                <a:latin typeface="Courier New"/>
              </a:rPr>
              <a:t>new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4EC9B0"/>
                </a:solidFill>
                <a:latin typeface="Courier New"/>
              </a:rPr>
              <a:t>PostgreSqlBuilder</a:t>
            </a:r>
            <a:r>
              <a:rPr sz="919">
                <a:solidFill>
                  <a:srgbClr val="D4D4D4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.</a:t>
            </a:r>
            <a:r>
              <a:rPr sz="919">
                <a:solidFill>
                  <a:srgbClr val="4EC9B0"/>
                </a:solidFill>
                <a:latin typeface="Courier New"/>
              </a:rPr>
              <a:t>WithDatabase</a:t>
            </a:r>
            <a:r>
              <a:rPr sz="919">
                <a:solidFill>
                  <a:srgbClr val="D4D4D4"/>
                </a:solidFill>
                <a:latin typeface="Courier New"/>
              </a:rPr>
              <a:t>(</a:t>
            </a:r>
            <a:r>
              <a:rPr sz="919">
                <a:solidFill>
                  <a:srgbClr val="CE9178"/>
                </a:solidFill>
                <a:latin typeface="Courier New"/>
              </a:rPr>
              <a:t>"stockdb"</a:t>
            </a:r>
            <a:r>
              <a:rPr sz="919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.</a:t>
            </a:r>
            <a:r>
              <a:rPr sz="919">
                <a:solidFill>
                  <a:srgbClr val="4EC9B0"/>
                </a:solidFill>
                <a:latin typeface="Courier New"/>
              </a:rPr>
              <a:t>Build</a:t>
            </a:r>
            <a:r>
              <a:rPr sz="919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6A9955"/>
                </a:solidFill>
                <a:latin typeface="Courier New"/>
              </a:rPr>
              <a:t>// second insert — same MessageId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569CD6"/>
                </a:solidFill>
                <a:latin typeface="Courier New"/>
              </a:rPr>
              <a:t>await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4EC9B0"/>
                </a:solidFill>
                <a:latin typeface="Courier New"/>
              </a:rPr>
              <a:t>Assert</a:t>
            </a:r>
            <a:r>
              <a:rPr sz="919">
                <a:solidFill>
                  <a:srgbClr val="D4D4D4"/>
                </a:solidFill>
                <a:latin typeface="Courier New"/>
              </a:rPr>
              <a:t>.</a:t>
            </a:r>
            <a:r>
              <a:rPr sz="919">
                <a:solidFill>
                  <a:srgbClr val="4EC9B0"/>
                </a:solidFill>
                <a:latin typeface="Courier New"/>
              </a:rPr>
              <a:t>ThrowsAsync</a:t>
            </a:r>
            <a:r>
              <a:rPr sz="919">
                <a:solidFill>
                  <a:srgbClr val="D4D4D4"/>
                </a:solidFill>
                <a:latin typeface="Courier New"/>
              </a:rPr>
              <a:t>&lt;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</a:t>
            </a:r>
            <a:r>
              <a:rPr sz="919">
                <a:solidFill>
                  <a:srgbClr val="4EC9B0"/>
                </a:solidFill>
                <a:latin typeface="Courier New"/>
              </a:rPr>
              <a:t>DbUpdateException</a:t>
            </a:r>
            <a:r>
              <a:rPr sz="919">
                <a:solidFill>
                  <a:srgbClr val="D4D4D4"/>
                </a:solidFill>
                <a:latin typeface="Courier New"/>
              </a:rPr>
              <a:t>&gt;(</a:t>
            </a:r>
            <a:r>
              <a:rPr sz="919">
                <a:solidFill>
                  <a:srgbClr val="569CD6"/>
                </a:solidFill>
                <a:latin typeface="Courier New"/>
              </a:rPr>
              <a:t>async</a:t>
            </a:r>
            <a:r>
              <a:rPr sz="919">
                <a:solidFill>
                  <a:srgbClr val="D4D4D4"/>
                </a:solidFill>
                <a:latin typeface="Courier New"/>
              </a:rPr>
              <a:t> ()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</a:t>
            </a:r>
            <a:r>
              <a:rPr sz="919">
                <a:solidFill>
                  <a:srgbClr val="569CD6"/>
                </a:solidFill>
                <a:latin typeface="Courier New"/>
              </a:rPr>
              <a:t>await</a:t>
            </a:r>
            <a:r>
              <a:rPr sz="919">
                <a:solidFill>
                  <a:srgbClr val="D4D4D4"/>
                </a:solidFill>
                <a:latin typeface="Courier New"/>
              </a:rPr>
              <a:t> </a:t>
            </a:r>
            <a:r>
              <a:rPr sz="919">
                <a:solidFill>
                  <a:srgbClr val="D4D4D4"/>
                </a:solidFill>
                <a:latin typeface="Courier New"/>
              </a:rPr>
              <a:t>db2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D4D4D4"/>
                </a:solidFill>
                <a:latin typeface="Courier New"/>
              </a:rPr>
              <a:t>      .</a:t>
            </a:r>
            <a:r>
              <a:rPr sz="919">
                <a:solidFill>
                  <a:srgbClr val="4EC9B0"/>
                </a:solidFill>
                <a:latin typeface="Courier New"/>
              </a:rPr>
              <a:t>SaveChangesAsync</a:t>
            </a:r>
            <a:r>
              <a:rPr sz="919">
                <a:solidFill>
                  <a:srgbClr val="D4D4D4"/>
                </a:solidFill>
                <a:latin typeface="Courier New"/>
              </a:rPr>
              <a:t>());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Docker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docker compose up --build  -&gt;  entire system running in one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670048" cy="749808"/>
          </a:xfrm>
          <a:prstGeom prst="rect">
            <a:avLst/>
          </a:prstGeom>
          <a:solidFill>
            <a:srgbClr val="66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RabbitMQ 3
:5672  ·  :15672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9816" y="1115568"/>
            <a:ext cx="2670048" cy="749808"/>
          </a:xfrm>
          <a:prstGeom prst="rect">
            <a:avLst/>
          </a:prstGeom>
          <a:solidFill>
            <a:srgbClr val="66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PostgreSQL 16
:5432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9592" y="1115568"/>
            <a:ext cx="2670048" cy="749808"/>
          </a:xfrm>
          <a:prstGeom prst="rect">
            <a:avLst/>
          </a:prstGeom>
          <a:solidFill>
            <a:srgbClr val="5C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Stub Payment
Gateway  :9090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75104"/>
            <a:ext cx="2670048" cy="749808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Order Service API
:5000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9816" y="1975104"/>
            <a:ext cx="2670048" cy="74980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Stock Consumer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1975104"/>
            <a:ext cx="2670048" cy="749808"/>
          </a:xfrm>
          <a:prstGeom prst="rect">
            <a:avLst/>
          </a:prstGeom>
          <a:solidFill>
            <a:srgbClr val="4E2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Payment Consumer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34640"/>
            <a:ext cx="1920240" cy="74980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Invoice
Consumer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2834640"/>
            <a:ext cx="1920240" cy="74980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Warehouse
Consumer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2834640"/>
            <a:ext cx="1920240" cy="74980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Shipping Consumer
(+DLQ)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9944" y="2834640"/>
            <a:ext cx="1920240" cy="749808"/>
          </a:xfrm>
          <a:prstGeom prst="rect">
            <a:avLst/>
          </a:prstGeom>
          <a:solidFill>
            <a:srgbClr val="1E5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Notification
Consumer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5449824" cy="2761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4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79"/>
            <a:ext cx="508406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88AA"/>
                </a:solidFill>
                <a:latin typeface="Calibri"/>
              </a:rPr>
              <a:t>Multi-stage Dockerfiles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9663"/>
            <a:ext cx="5084064" cy="22677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8687C"/>
                </a:solidFill>
                <a:latin typeface="Calibri"/>
              </a:rPr>
              <a:t>Stage 1 (SDK image):
  dotnet restore + dotnet publish
Stage 2 (runtime image):
  copy /app/publish only  -&gt;  minimal image
Build context = repo root
  shared/Contracts/ accessible in all Dockerfiles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3749039"/>
            <a:ext cx="61081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02038"/>
                </a:solidFill>
                <a:latin typeface="Calibri"/>
              </a:rPr>
              <a:t>Health check + dependency ordering: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024" y="4078224"/>
            <a:ext cx="6108192" cy="2432304"/>
          </a:xfrm>
          <a:prstGeom prst="rect">
            <a:avLst/>
          </a:prstGeom>
          <a:solidFill>
            <a:srgbClr val="142236"/>
          </a:solidFill>
          <a:ln w="9525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25896" y="4178808"/>
            <a:ext cx="5870448" cy="2231136"/>
          </a:xfrm>
          <a:prstGeom prst="rect">
            <a:avLst/>
          </a:prstGeom>
          <a:noFill/>
        </p:spPr>
        <p:txBody>
          <a:bodyPr wrap="non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rabbitmq</a:t>
            </a:r>
            <a:r>
              <a:rPr sz="105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</a:t>
            </a:r>
            <a:r>
              <a:rPr sz="1050">
                <a:solidFill>
                  <a:srgbClr val="D4D4D4"/>
                </a:solidFill>
                <a:latin typeface="Courier New"/>
              </a:rPr>
              <a:t>healthcheck</a:t>
            </a:r>
            <a:r>
              <a:rPr sz="105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D4D4D4"/>
                </a:solidFill>
                <a:latin typeface="Courier New"/>
              </a:rPr>
              <a:t>test</a:t>
            </a:r>
            <a:r>
              <a:rPr sz="1050">
                <a:solidFill>
                  <a:srgbClr val="D4D4D4"/>
                </a:solidFill>
                <a:latin typeface="Courier New"/>
              </a:rPr>
              <a:t>: [</a:t>
            </a:r>
            <a:r>
              <a:rPr sz="1050">
                <a:solidFill>
                  <a:srgbClr val="CE9178"/>
                </a:solidFill>
                <a:latin typeface="Courier New"/>
              </a:rPr>
              <a:t>"CMD"</a:t>
            </a:r>
            <a:r>
              <a:rPr sz="1050">
                <a:solidFill>
                  <a:srgbClr val="D4D4D4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</a:t>
            </a:r>
            <a:r>
              <a:rPr sz="1050">
                <a:solidFill>
                  <a:srgbClr val="CE9178"/>
                </a:solidFill>
                <a:latin typeface="Courier New"/>
              </a:rPr>
              <a:t>"rabbitmq-diagnostics"</a:t>
            </a:r>
            <a:r>
              <a:rPr sz="1050">
                <a:solidFill>
                  <a:srgbClr val="D4D4D4"/>
                </a:solidFill>
                <a:latin typeface="Courier New"/>
              </a:rPr>
              <a:t>, </a:t>
            </a:r>
            <a:r>
              <a:rPr sz="1050">
                <a:solidFill>
                  <a:srgbClr val="CE9178"/>
                </a:solidFill>
                <a:latin typeface="Courier New"/>
              </a:rPr>
              <a:t>"ping"</a:t>
            </a:r>
            <a:r>
              <a:rPr sz="1050">
                <a:solidFill>
                  <a:srgbClr val="D4D4D4"/>
                </a:solidFill>
                <a:latin typeface="Courier New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D4D4D4"/>
                </a:solidFill>
                <a:latin typeface="Courier New"/>
              </a:rPr>
              <a:t>interval</a:t>
            </a:r>
            <a:r>
              <a:rPr sz="1050">
                <a:solidFill>
                  <a:srgbClr val="D4D4D4"/>
                </a:solidFill>
                <a:latin typeface="Courier New"/>
              </a:rPr>
              <a:t>: </a:t>
            </a:r>
            <a:r>
              <a:rPr sz="1050">
                <a:solidFill>
                  <a:srgbClr val="D4D4D4"/>
                </a:solidFill>
                <a:latin typeface="Courier New"/>
              </a:rPr>
              <a:t>10s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D4D4D4"/>
                </a:solidFill>
                <a:latin typeface="Courier New"/>
              </a:rPr>
              <a:t>retries</a:t>
            </a:r>
            <a:r>
              <a:rPr sz="1050">
                <a:solidFill>
                  <a:srgbClr val="D4D4D4"/>
                </a:solidFill>
                <a:latin typeface="Courier New"/>
              </a:rPr>
              <a:t>: </a:t>
            </a:r>
            <a:r>
              <a:rPr sz="1050">
                <a:solidFill>
                  <a:srgbClr val="D4D4D4"/>
                </a:solidFill>
                <a:latin typeface="Courier New"/>
              </a:rPr>
              <a:t>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stock</a:t>
            </a:r>
            <a:r>
              <a:rPr sz="1050">
                <a:solidFill>
                  <a:srgbClr val="D4D4D4"/>
                </a:solidFill>
                <a:latin typeface="Courier New"/>
              </a:rPr>
              <a:t>-</a:t>
            </a:r>
            <a:r>
              <a:rPr sz="1050">
                <a:solidFill>
                  <a:srgbClr val="D4D4D4"/>
                </a:solidFill>
                <a:latin typeface="Courier New"/>
              </a:rPr>
              <a:t>consumer</a:t>
            </a:r>
            <a:r>
              <a:rPr sz="105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</a:t>
            </a:r>
            <a:r>
              <a:rPr sz="1050">
                <a:solidFill>
                  <a:srgbClr val="D4D4D4"/>
                </a:solidFill>
                <a:latin typeface="Courier New"/>
              </a:rPr>
              <a:t>depends_on</a:t>
            </a:r>
            <a:r>
              <a:rPr sz="105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D4D4D4"/>
                </a:solidFill>
                <a:latin typeface="Courier New"/>
              </a:rPr>
              <a:t>rabbitmq</a:t>
            </a:r>
            <a:r>
              <a:rPr sz="105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</a:t>
            </a:r>
            <a:r>
              <a:rPr sz="1050">
                <a:solidFill>
                  <a:srgbClr val="D4D4D4"/>
                </a:solidFill>
                <a:latin typeface="Courier New"/>
              </a:rPr>
              <a:t>condition</a:t>
            </a:r>
            <a:r>
              <a:rPr sz="1050">
                <a:solidFill>
                  <a:srgbClr val="D4D4D4"/>
                </a:solidFill>
                <a:latin typeface="Courier New"/>
              </a:rPr>
              <a:t>: </a:t>
            </a:r>
            <a:r>
              <a:rPr sz="1050">
                <a:solidFill>
                  <a:srgbClr val="D4D4D4"/>
                </a:solidFill>
                <a:latin typeface="Courier New"/>
              </a:rPr>
              <a:t>service_healthy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</a:t>
            </a:r>
            <a:r>
              <a:rPr sz="1050">
                <a:solidFill>
                  <a:srgbClr val="D4D4D4"/>
                </a:solidFill>
                <a:latin typeface="Courier New"/>
              </a:rPr>
              <a:t>postgres</a:t>
            </a:r>
            <a:r>
              <a:rPr sz="105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urier New"/>
              </a:rPr>
              <a:t>      </a:t>
            </a:r>
            <a:r>
              <a:rPr sz="1050">
                <a:solidFill>
                  <a:srgbClr val="D4D4D4"/>
                </a:solidFill>
                <a:latin typeface="Courier New"/>
              </a:rPr>
              <a:t>condition</a:t>
            </a:r>
            <a:r>
              <a:rPr sz="1050">
                <a:solidFill>
                  <a:srgbClr val="D4D4D4"/>
                </a:solidFill>
                <a:latin typeface="Courier New"/>
              </a:rPr>
              <a:t>: </a:t>
            </a:r>
            <a:r>
              <a:rPr sz="1050">
                <a:solidFill>
                  <a:srgbClr val="D4D4D4"/>
                </a:solidFill>
                <a:latin typeface="Courier New"/>
              </a:rPr>
              <a:t>service_healthy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11612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676656"/>
            <a:ext cx="11612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C4D2E0"/>
                </a:solidFill>
                <a:latin typeface="Calibri"/>
              </a:rPr>
              <a:t>Event-driven: loose coupling, resilience, scalability — with real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4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92840" y="6656832"/>
            <a:ext cx="749808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8687C"/>
                </a:solidFill>
                <a:latin typeface="Calibri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" y="1115568"/>
            <a:ext cx="1755648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" y="1170432"/>
            <a:ext cx="175564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0088AA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" y="1810512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microservices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8860" y="1115568"/>
            <a:ext cx="1755648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8860" y="1170432"/>
            <a:ext cx="175564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0088AA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8860" y="1810512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demo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7388" y="1115568"/>
            <a:ext cx="1755648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7388" y="1170432"/>
            <a:ext cx="175564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0088AA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7388" y="1810512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1115568"/>
            <a:ext cx="1755648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170432"/>
            <a:ext cx="175564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0088A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1810512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4444" y="1115568"/>
            <a:ext cx="1755648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4444" y="1170432"/>
            <a:ext cx="175564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0088AA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4444" y="1810512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containers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62972" y="1115568"/>
            <a:ext cx="1755648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62972" y="1170432"/>
            <a:ext cx="175564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800" b="1" i="0">
                <a:solidFill>
                  <a:srgbClr val="0088AA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2972" y="1810512"/>
            <a:ext cx="17556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shared DBs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7" y="2395728"/>
            <a:ext cx="2651760" cy="512064"/>
          </a:xfrm>
          <a:prstGeom prst="rect">
            <a:avLst/>
          </a:prstGeom>
          <a:solidFill>
            <a:srgbClr val="4E2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Choreography Saga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899" y="2962656"/>
            <a:ext cx="2505456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Distributed consistency
without 2PC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8979" y="2395728"/>
            <a:ext cx="2651760" cy="512064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Idempotent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2132" y="2962656"/>
            <a:ext cx="2505456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Safe at-least-once
delivery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8212" y="2395728"/>
            <a:ext cx="2651760" cy="512064"/>
          </a:xfrm>
          <a:prstGeom prst="rect">
            <a:avLst/>
          </a:prstGeom>
          <a:solidFill>
            <a:srgbClr val="663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Dead-Letter 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1364" y="2962656"/>
            <a:ext cx="2505456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No message ever
silently lost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7444" y="2395728"/>
            <a:ext cx="2651760" cy="512064"/>
          </a:xfrm>
          <a:prstGeom prst="rect">
            <a:avLst/>
          </a:prstGeom>
          <a:solidFill>
            <a:srgbClr val="005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Pub/Sub Fan-Out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0596" y="2962656"/>
            <a:ext cx="2505456" cy="51206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58687C"/>
                </a:solidFill>
                <a:latin typeface="Calibri"/>
              </a:rPr>
              <a:t>Independent parallel
processing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675887"/>
            <a:ext cx="5468112" cy="1993392"/>
          </a:xfrm>
          <a:prstGeom prst="rect">
            <a:avLst/>
          </a:prstGeom>
          <a:solidFill>
            <a:srgbClr val="E6F7EB"/>
          </a:solidFill>
          <a:ln w="12700">
            <a:solidFill>
              <a:srgbClr val="127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49039"/>
            <a:ext cx="51023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27038"/>
                </a:solidFill>
                <a:latin typeface="Calibri"/>
              </a:rPr>
              <a:t>Benefits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14800"/>
            <a:ext cx="51023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27038"/>
                </a:solidFill>
                <a:latin typeface="Calibri"/>
              </a:rPr>
              <a:t>·  Loose coupling — services are independent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62272"/>
            <a:ext cx="51023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27038"/>
                </a:solidFill>
                <a:latin typeface="Calibri"/>
              </a:rPr>
              <a:t>·  Resilience — failures are isolated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09744"/>
            <a:ext cx="51023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27038"/>
                </a:solidFill>
                <a:latin typeface="Calibri"/>
              </a:rPr>
              <a:t>·  Scalability — scale each service independently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57216"/>
            <a:ext cx="51023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127038"/>
                </a:solidFill>
                <a:latin typeface="Calibri"/>
              </a:rPr>
              <a:t>·  Extensibility — add consumers, publisher unchanged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98464" y="3675887"/>
            <a:ext cx="5925312" cy="1993392"/>
          </a:xfrm>
          <a:prstGeom prst="rect">
            <a:avLst/>
          </a:prstGeom>
          <a:solidFill>
            <a:srgbClr val="FCEBEB"/>
          </a:solidFill>
          <a:ln w="12700">
            <a:solidFill>
              <a:srgbClr val="B4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344" y="3749039"/>
            <a:ext cx="55595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41616"/>
                </a:solidFill>
                <a:latin typeface="Calibri"/>
              </a:rPr>
              <a:t>Trade-offs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344" y="4114800"/>
            <a:ext cx="55595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1616"/>
                </a:solidFill>
                <a:latin typeface="Calibri"/>
              </a:rPr>
              <a:t>·  Eventual consistency — not strong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344" y="4462272"/>
            <a:ext cx="55595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1616"/>
                </a:solidFill>
                <a:latin typeface="Calibri"/>
              </a:rPr>
              <a:t>·  Distributed debugging — 7 log streams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4809744"/>
            <a:ext cx="55595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1616"/>
                </a:solidFill>
                <a:latin typeface="Calibri"/>
              </a:rPr>
              <a:t>·  Operational complexity — 9 containers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344" y="5157216"/>
            <a:ext cx="555955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1616"/>
                </a:solidFill>
                <a:latin typeface="Calibri"/>
              </a:rPr>
              <a:t>·  Idempotency required — duplicates happen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815584"/>
            <a:ext cx="11649456" cy="694944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888736"/>
            <a:ext cx="1164945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Thank you  —  I am happy to take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